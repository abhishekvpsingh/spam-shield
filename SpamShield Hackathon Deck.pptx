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 of 10 (about 20 seconds). Introduce the team and each person's role. One sentence on the project: a spam filter for a mobile carrier. Presenter: Pratap Gurung.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 of 10 (about 40 seconds). The client is a regional mobile carrier drowning in complaints about scam texts. Their hard requirement: never block a real message from family or a doctor. That is why we report precision on the spam class and the false-positive rate, not accuracy. If you predict "ham" for every message in our test set you score 87.6% accuracy while catching zero spam. Presenter: Pratap Gurung.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 of 10 (about 45 seconds). Data: the UCI SMS Spam Collection, 5,574 labeled English messages, 13.4% spam before cleaning. We found 415 exact duplicates (case-insensitive) and removed them BEFORE splitting; if you split first, copies land in both train and test and inflate the score. After de-duplication: 5,159 messages, 12.4% spam. Stratified 70/15/15 split with seed 42 gives 3,611 train, 774 dev, 774 test. Dev picks the decision threshold; test is scored once. The TF-IDF vectorizer is fit on the training split only. Source: run_experiments.py, results/results.md. Presenter: Krushitha Janagama.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4 of 10 (about 45 seconds). Four stages. (1) Clean: lowercase, replace links with a single "urltoken", split into words. (2) Baseline: Naive Bayes implemented from scratch (spamshield/nb.py), the course method with add-1 smoothing. (3) Compare against scikit-learn MultinomialNB and logistic regression on word and bigram TF-IDF. (4) Tune the decision threshold on the dev split to target a false-positive rate of at most 0.5%, then apply it once to the test split. The client cares about false positives, so the threshold matters as much as the model. Presenter: Krushitha Janagama.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5 of 10 (about 50 seconds). This is the course method from Jurafsky and Martin Chapter 4, implemented from scratch with counts only. The prior is the share of training messages in each class. The likelihood of a word given a class is its count in that class plus one, divided by the number of word tokens in that class plus the vocabulary size; adding |V| in the denominator keeps each class's probabilities summing to 1. We add log probabilities instead of multiplying so tiny numbers do not underflow. Words never seen in training are ignored. As a check, the same code run on our Assignment 1 toy data gives |V| = 9, P(pretty|negative) = 2/17, P(plot|positive) = 1/12 and classifies "pretty enjoyable plot" as negative, matching the hand calculation. On the SMS data the vocabulary is 7,085 words. Be ready to explain every line of nb.py. Presenter: Ganesh Babu Palacharla.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6 of 10 (about 2 minutes: switch to the live demo now). Launch before the session: `streamlit run app.py` on a team laptop, or run the Gradio version (app_gradio.py / Colab notebook). Show three things in this order. (1) The leetspeak scam "FR33 PR1ZE! Cl41m your 5 gift card now": blocked, with the words that drove the decision listed. (2) The family message: delivered. (3) Drag the threshold slider and explain the trade-off the client cares about. Have the three example messages pre-loaded in the demo in case typing goes wrong. The demo needs no internet. Presenter: Varsha Reddy Polla.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7 of 10 (about 75 seconds). Test set: 96 spam and 678 real messages. The from-scratch Naive Bayes baseline gets precision 0.944, recall 0.885, 0.74% false positives (5 of 678). The best row by F1 is logistic regression on TF-IDF with a dev-tuned threshold: precision 0.989, recall 0.938, F1 0.963, one false positive (0.15%). The sklearn Naive Bayes and logistic regression at 0.5 have zero false positives, but sklearn Naive Bayes misses 30% of spam (recall 0.698). Be honest about the uncertainty: 95% intervals for the false-positive rate are [0.32%, 1.71%] for Naive Bayes at 0.5 and [0.03%, 0.83%] for tuned logistic regression, and for recall [0.806, 0.935] vs [0.870, 0.971]. They overlap, so we cannot claim one model is truly better. Also note: our dev-tuned Naive Bayes threshold did not hold up on test (see slide 9). Source: results/results.md and results/extras.md. Presenter: Abhishek Virendra Pratap Singh.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8 of 10 (about 60 seconds). These are five of the tuned from-scratch Naive Bayes model's 18 test errors (7 false positives, 11 missed spam). Full write-up with the word-count evidence: results/error_analysis.md and results/extras.md. Blocked real messages: (1) "Nokia phone is lovly..": "nokia" appears in 28 spam and 0 ham training messages, "lovly" is unseen and ignored, so one lopsided word decides a 4-word message. (2) "Unlimited texts. Limited minutes.": every known word with an effect leans spam ("unlimited" 8 spam / 1 ham), because plan talk mostly comes from carrier promotions in this dataset. Missed spam: (3) real spam cues exist (£250 0 ham, 0870 0 ham) but informal first-person words outvote them and six words are unseen; it was a close call, a log-score gap of about 4. (4) the phone number and the long "minmoremobs..." string are unseen one-off tokens, so the strongest cues are ignored; "calls£1" was known but weak. (5) long message with many ham-leaning words ("i" appears in 25 spam but 1,369 ham messages); the independence assumption lets many weak words swamp a few strong ones, gap about 22 log units. Common thread: unseen words are discarded and the independence assumption. Presenter: Abhishek Virendra Pratap Singh.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9 of 10 (about 60 seconds). Three honest findings. (1) Adversarial spellings: replacing letters with digits ("FR33 PR1ZE") dropped Naive Bayes spam recall from 0.885 to 0.833 on the test spam. A normalizer that maps digits back to letters inside mixed tokens restored 0.885, and the false-positive rate stayed at 0.007 either way. (2) We wrote 7 modern-style messages to probe generalization (4 scams, 3 real). The model got 5 of 7: it missed a toll-payment scam ("toll" never appears in training and "pay" appears in 0 spam and 20 ham messages) and flagged a legitimate appointment confirmation (P(spam) = 0.82). Seven messages is anecdotal; the brief suggests 30 to 50, so extend this set if time allows. (3) Threshold tuning did not transfer: tuned on dev for false positives at or below 0.5% (achieved 0.44% on dev), the same threshold gave 1.03% on test. Naive Bayes probabilities are extremely overconfident (92.8% of test predictions are above 0.99 or below 0.01), so a threshold has little room to trade precision for recall. With 678 real test messages, one extra false positive moves the rate by 0.15 points, so these estimates are noisy. Presenter: Ganesh Babu Palacharla.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10 of 10 (about 45 seconds, then 5 minutes of Q&amp;A). Limitations: the dataset is older and largely UK and Singapore text, so it under-represents modern scams (toll notices, package-hold links). Exact-duplicate removal does not catch near-duplicates. Ethics: for this client a false positive is the costly error (a blocked doctor's reminder or a message from family), so any deployment needs a way for a person to recover a blocked message and for the carrier to audit mistakes. Naive Bayes probabilities are overconfident, so we would not display them as certainty. Next steps with another week: a larger modern labeled set, calibrated probabilities with the threshold chosen by cross-validation rather than one dev split, regex features for phone numbers and per-minute prices (which would have caught errors 3 to 5), and a DistilBERT fine-tune as the stretch goal. Be ready for: why add-1 smoothing, why remove duplicates before splitting, why the threshold is tuned on dev not test, and what each misclassified message shows. Disclose AI assistance as written in the README. Presenter: Pratap Gurung.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7F6F2"/>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812800"/>
            <a:ext cx="10566400" cy="525780"/>
          </a:xfrm>
          <a:prstGeom prst="rect">
            <a:avLst/>
          </a:prstGeom>
          <a:noFill/>
          <a:ln/>
        </p:spPr>
        <p:txBody>
          <a:bodyPr wrap="square" lIns="0" tIns="0" rIns="0" bIns="0" rtlCol="0" anchor="t"/>
          <a:lstStyle>
            <a:lvl1pPr algn="l" indent="0" marL="0">
              <a:lnSpc>
                <a:spcPct val="115000"/>
              </a:lnSpc>
              <a:buNone/>
              <a:defRPr lang="en-US" sz="3600" dirty="0">
                <a:solidFill>
                  <a:srgbClr val="14213D"/>
                </a:solidFill>
                <a:latin typeface="IBM Plex Sans" pitchFamily="34" charset="0"/>
                <a:ea typeface="IBM Plex Sans" pitchFamily="34" charset="-122"/>
                <a:cs typeface="IBM Plex Sans"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643380"/>
            <a:ext cx="10566400" cy="4401820"/>
          </a:xfrm>
          <a:prstGeom prst="rect">
            <a:avLst/>
          </a:prstGeom>
          <a:noFill/>
          <a:ln/>
        </p:spPr>
        <p:txBody>
          <a:bodyPr wrap="square" lIns="0" tIns="0" rIns="0" bIns="0" rtlCol="0" anchor="t"/>
          <a:lstStyle>
            <a:lvl1pPr algn="l" indent="0" marL="0">
              <a:lnSpc>
                <a:spcPct val="140000"/>
              </a:lnSpc>
              <a:buNone/>
              <a:defRPr lang="en-US" sz="1600" dirty="0">
                <a:solidFill>
                  <a:srgbClr val="14213D"/>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7F6F2"/>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812800"/>
            <a:ext cx="10566400" cy="525780"/>
          </a:xfrm>
          <a:prstGeom prst="rect">
            <a:avLst/>
          </a:prstGeom>
          <a:noFill/>
          <a:ln/>
        </p:spPr>
        <p:txBody>
          <a:bodyPr wrap="square" lIns="0" tIns="0" rIns="0" bIns="0" rtlCol="0" anchor="t"/>
          <a:lstStyle>
            <a:lvl1pPr algn="l" indent="0" marL="0">
              <a:lnSpc>
                <a:spcPct val="115000"/>
              </a:lnSpc>
              <a:buNone/>
              <a:defRPr lang="en-US" sz="3600" dirty="0">
                <a:solidFill>
                  <a:srgbClr val="14213D"/>
                </a:solidFill>
                <a:latin typeface="IBM Plex Sans" pitchFamily="34" charset="0"/>
                <a:ea typeface="IBM Plex Sans" pitchFamily="34" charset="-122"/>
                <a:cs typeface="IBM Plex Sans"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643380"/>
            <a:ext cx="10566400" cy="4401820"/>
          </a:xfrm>
          <a:prstGeom prst="rect">
            <a:avLst/>
          </a:prstGeom>
          <a:noFill/>
          <a:ln/>
        </p:spPr>
        <p:txBody>
          <a:bodyPr wrap="square" lIns="0" tIns="0" rIns="0" bIns="0" rtlCol="0" anchor="t"/>
          <a:lstStyle>
            <a:lvl1pPr algn="l" indent="0" marL="0">
              <a:lnSpc>
                <a:spcPct val="140000"/>
              </a:lnSpc>
              <a:buNone/>
              <a:defRPr lang="en-US" sz="1600" dirty="0">
                <a:solidFill>
                  <a:srgbClr val="14213D"/>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2.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13D"/>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F2B84B"/>
                </a:solidFill>
                <a:latin typeface="IBM Plex Sans" pitchFamily="34" charset="0"/>
                <a:ea typeface="IBM Plex Sans" pitchFamily="34" charset="-122"/>
                <a:cs typeface="IBM Plex Sans" pitchFamily="34" charset="-120"/>
              </a:rPr>
              <a:t>MSDS 630 · RESIDENCY NLP HACKATHON · PROJECT 1</a:t>
            </a:r>
            <a:endParaRPr lang="en-US" sz="1200" dirty="0"/>
          </a:p>
        </p:txBody>
      </p:sp>
      <p:sp>
        <p:nvSpPr>
          <p:cNvPr id="3" name="Text 1"/>
          <p:cNvSpPr/>
          <p:nvPr>
            <p:ph type="title"/>
          </p:nvPr>
        </p:nvSpPr>
        <p:spPr>
          <a:xfrm>
            <a:off x="812800" y="2199640"/>
            <a:ext cx="10883392" cy="863600"/>
          </a:xfrm>
          <a:prstGeom prst="rect">
            <a:avLst/>
          </a:prstGeom>
          <a:noFill/>
          <a:ln/>
        </p:spPr>
        <p:txBody>
          <a:bodyPr wrap="square" lIns="0" tIns="0" rIns="0" bIns="0" rtlCol="0" anchor="t">
            <a:normAutofit/>
          </a:bodyPr>
          <a:lstStyle/>
          <a:p>
            <a:pPr algn="l" indent="0" marL="0">
              <a:lnSpc>
                <a:spcPts val="6600"/>
              </a:lnSpc>
              <a:buNone/>
            </a:pPr>
            <a:r>
              <a:rPr lang="en-US" sz="6000" b="1" i="0" dirty="0">
                <a:solidFill>
                  <a:srgbClr val="F7F6F2"/>
                </a:solidFill>
                <a:latin typeface="IBM Plex Sans" pitchFamily="34" charset="0"/>
                <a:ea typeface="IBM Plex Sans" pitchFamily="34" charset="-122"/>
                <a:cs typeface="IBM Plex Sans" pitchFamily="34" charset="-120"/>
              </a:rPr>
              <a:t>SpamShield</a:t>
            </a:r>
            <a:endParaRPr lang="en-US" sz="6000" dirty="0"/>
          </a:p>
        </p:txBody>
      </p:sp>
      <p:sp>
        <p:nvSpPr>
          <p:cNvPr id="4" name="Text 2"/>
          <p:cNvSpPr/>
          <p:nvPr/>
        </p:nvSpPr>
        <p:spPr>
          <a:xfrm>
            <a:off x="812800" y="3241040"/>
            <a:ext cx="8502650" cy="751840"/>
          </a:xfrm>
          <a:prstGeom prst="rect">
            <a:avLst/>
          </a:prstGeom>
          <a:noFill/>
          <a:ln/>
        </p:spPr>
        <p:txBody>
          <a:bodyPr wrap="square" lIns="0" tIns="0" rIns="0" bIns="0" rtlCol="0" anchor="t">
            <a:normAutofit/>
          </a:bodyPr>
          <a:lstStyle/>
          <a:p>
            <a:pPr algn="l" indent="0" marL="0">
              <a:lnSpc>
                <a:spcPts val="2860"/>
              </a:lnSpc>
              <a:buNone/>
            </a:pPr>
            <a:r>
              <a:rPr lang="en-US" sz="2200" dirty="0">
                <a:solidFill>
                  <a:srgbClr val="C9D3E6"/>
                </a:solidFill>
                <a:latin typeface="IBM Plex Sans" pitchFamily="34" charset="0"/>
                <a:ea typeface="IBM Plex Sans" pitchFamily="34" charset="-122"/>
                <a:cs typeface="IBM Plex Sans" pitchFamily="34" charset="-120"/>
              </a:rPr>
              <a:t>An SMS spam filter that blocks scams without blocking your family or your doctor</a:t>
            </a:r>
            <a:endParaRPr lang="en-US" sz="2200" dirty="0"/>
          </a:p>
        </p:txBody>
      </p:sp>
      <p:sp>
        <p:nvSpPr>
          <p:cNvPr id="5" name="Text 3"/>
          <p:cNvSpPr/>
          <p:nvPr/>
        </p:nvSpPr>
        <p:spPr>
          <a:xfrm>
            <a:off x="812800" y="5140960"/>
            <a:ext cx="10883392" cy="5943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F7F6F2"/>
                </a:solidFill>
                <a:latin typeface="IBM Plex Sans" pitchFamily="34" charset="0"/>
                <a:ea typeface="IBM Plex Sans" pitchFamily="34" charset="-122"/>
                <a:cs typeface="IBM Plex Sans" pitchFamily="34" charset="-120"/>
              </a:rPr>
              <a:t>Team 1 · Pratap Gurung, Krushitha Janagama, Ganesh Babu Palacharla, Varsha Reddy Polla, Abhishek Virendra Pratap Singh</a:t>
            </a:r>
            <a:endParaRPr lang="en-US" sz="1600" dirty="0"/>
          </a:p>
        </p:txBody>
      </p:sp>
      <p:sp>
        <p:nvSpPr>
          <p:cNvPr id="6" name="Text 4"/>
          <p:cNvSpPr/>
          <p:nvPr/>
        </p:nvSpPr>
        <p:spPr>
          <a:xfrm>
            <a:off x="812800" y="5760720"/>
            <a:ext cx="10883392"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C9D3E6"/>
                </a:solidFill>
                <a:latin typeface="IBM Plex Sans" pitchFamily="34" charset="0"/>
                <a:ea typeface="IBM Plex Sans" pitchFamily="34" charset="-122"/>
                <a:cs typeface="IBM Plex Sans" pitchFamily="34" charset="-120"/>
              </a:rPr>
              <a:t>University of the Cumberlands · Dallas Campus · October 11, 2026</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1F5FBF"/>
                </a:solidFill>
                <a:latin typeface="IBM Plex Sans" pitchFamily="34" charset="0"/>
                <a:ea typeface="IBM Plex Sans" pitchFamily="34" charset="-122"/>
                <a:cs typeface="IBM Plex Sans" pitchFamily="34" charset="-120"/>
              </a:rPr>
              <a:t>THE CLIENT’S PROBLEM</a:t>
            </a:r>
            <a:endParaRPr lang="en-US" sz="1200" dirty="0"/>
          </a:p>
        </p:txBody>
      </p:sp>
      <p:sp>
        <p:nvSpPr>
          <p:cNvPr id="3" name="Text 1"/>
          <p:cNvSpPr/>
          <p:nvPr>
            <p:ph type="title"/>
          </p:nvPr>
        </p:nvSpPr>
        <p:spPr>
          <a:xfrm>
            <a:off x="812800" y="1280160"/>
            <a:ext cx="10883392" cy="1076960"/>
          </a:xfrm>
          <a:prstGeom prst="rect">
            <a:avLst/>
          </a:prstGeom>
          <a:noFill/>
          <a:ln/>
        </p:spPr>
        <p:txBody>
          <a:bodyPr wrap="square" lIns="0" tIns="0" rIns="0" bIns="0" rtlCol="0" anchor="t">
            <a:normAutofit/>
          </a:bodyPr>
          <a:lstStyle/>
          <a:p>
            <a:pPr algn="l" indent="0" marL="0">
              <a:lnSpc>
                <a:spcPts val="4140"/>
              </a:lnSpc>
              <a:buNone/>
            </a:pPr>
            <a:r>
              <a:rPr lang="en-US" sz="3600" b="1" i="0" dirty="0">
                <a:solidFill>
                  <a:srgbClr val="14213D"/>
                </a:solidFill>
                <a:latin typeface="IBM Plex Sans" pitchFamily="34" charset="0"/>
                <a:ea typeface="IBM Plex Sans" pitchFamily="34" charset="-122"/>
                <a:cs typeface="IBM Plex Sans" pitchFamily="34" charset="-120"/>
              </a:rPr>
              <a:t>A blocked message from a doctor costs more than a missed scam</a:t>
            </a:r>
            <a:endParaRPr lang="en-US" sz="3600" dirty="0"/>
          </a:p>
        </p:txBody>
      </p:sp>
      <p:sp>
        <p:nvSpPr>
          <p:cNvPr id="4" name="Shape 2"/>
          <p:cNvSpPr/>
          <p:nvPr/>
        </p:nvSpPr>
        <p:spPr>
          <a:xfrm>
            <a:off x="815975" y="2588895"/>
            <a:ext cx="3380264" cy="2086610"/>
          </a:xfrm>
          <a:prstGeom prst="roundRect">
            <a:avLst>
              <a:gd name="adj" fmla="val 4717"/>
            </a:avLst>
          </a:prstGeom>
          <a:solidFill>
            <a:srgbClr val="FDFCF9"/>
          </a:solidFill>
          <a:ln w="6350">
            <a:solidFill>
              <a:srgbClr val="DAD8D0"/>
            </a:solidFill>
            <a:prstDash val="solid"/>
          </a:ln>
        </p:spPr>
      </p:sp>
      <p:sp>
        <p:nvSpPr>
          <p:cNvPr id="5" name="Text 3"/>
          <p:cNvSpPr/>
          <p:nvPr/>
        </p:nvSpPr>
        <p:spPr>
          <a:xfrm>
            <a:off x="1071880" y="2844800"/>
            <a:ext cx="2954507" cy="36068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4213D"/>
                </a:solidFill>
                <a:latin typeface="IBM Plex Sans" pitchFamily="34" charset="0"/>
                <a:ea typeface="IBM Plex Sans" pitchFamily="34" charset="-122"/>
                <a:cs typeface="IBM Plex Sans" pitchFamily="34" charset="-120"/>
              </a:rPr>
              <a:t>Block scams</a:t>
            </a:r>
            <a:endParaRPr lang="en-US" sz="2200" dirty="0"/>
          </a:p>
        </p:txBody>
      </p:sp>
      <p:sp>
        <p:nvSpPr>
          <p:cNvPr id="6" name="Text 4"/>
          <p:cNvSpPr/>
          <p:nvPr/>
        </p:nvSpPr>
        <p:spPr>
          <a:xfrm>
            <a:off x="1071880" y="3281680"/>
            <a:ext cx="2954507" cy="87884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5568"/>
                </a:solidFill>
                <a:latin typeface="IBM Plex Sans" pitchFamily="34" charset="0"/>
                <a:ea typeface="IBM Plex Sans" pitchFamily="34" charset="-122"/>
                <a:cs typeface="IBM Plex Sans" pitchFamily="34" charset="-120"/>
              </a:rPr>
              <a:t>Fake package deliveries, prize notices and bank impersonation texts.</a:t>
            </a:r>
            <a:endParaRPr lang="en-US" sz="1600" dirty="0"/>
          </a:p>
        </p:txBody>
      </p:sp>
      <p:sp>
        <p:nvSpPr>
          <p:cNvPr id="7" name="Shape 5"/>
          <p:cNvSpPr/>
          <p:nvPr/>
        </p:nvSpPr>
        <p:spPr>
          <a:xfrm>
            <a:off x="4405789" y="2588895"/>
            <a:ext cx="3380343" cy="2086610"/>
          </a:xfrm>
          <a:prstGeom prst="roundRect">
            <a:avLst>
              <a:gd name="adj" fmla="val 4717"/>
            </a:avLst>
          </a:prstGeom>
          <a:solidFill>
            <a:srgbClr val="FDFCF9"/>
          </a:solidFill>
          <a:ln w="6350">
            <a:solidFill>
              <a:srgbClr val="DAD8D0"/>
            </a:solidFill>
            <a:prstDash val="solid"/>
          </a:ln>
        </p:spPr>
      </p:sp>
      <p:sp>
        <p:nvSpPr>
          <p:cNvPr id="8" name="Text 6"/>
          <p:cNvSpPr/>
          <p:nvPr/>
        </p:nvSpPr>
        <p:spPr>
          <a:xfrm>
            <a:off x="4661694" y="2844800"/>
            <a:ext cx="2954589" cy="36068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4213D"/>
                </a:solidFill>
                <a:latin typeface="IBM Plex Sans" pitchFamily="34" charset="0"/>
                <a:ea typeface="IBM Plex Sans" pitchFamily="34" charset="-122"/>
                <a:cs typeface="IBM Plex Sans" pitchFamily="34" charset="-120"/>
              </a:rPr>
              <a:t>Never block real mail</a:t>
            </a:r>
            <a:endParaRPr lang="en-US" sz="2200" dirty="0"/>
          </a:p>
        </p:txBody>
      </p:sp>
      <p:sp>
        <p:nvSpPr>
          <p:cNvPr id="9" name="Text 7"/>
          <p:cNvSpPr/>
          <p:nvPr/>
        </p:nvSpPr>
        <p:spPr>
          <a:xfrm>
            <a:off x="4661694" y="3281680"/>
            <a:ext cx="2954589" cy="87884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5568"/>
                </a:solidFill>
                <a:latin typeface="IBM Plex Sans" pitchFamily="34" charset="0"/>
                <a:ea typeface="IBM Plex Sans" pitchFamily="34" charset="-122"/>
                <a:cs typeface="IBM Plex Sans" pitchFamily="34" charset="-120"/>
              </a:rPr>
              <a:t>False positives cost the carrier far more than missed spam, so they lead our metrics.</a:t>
            </a:r>
            <a:endParaRPr lang="en-US" sz="1600" dirty="0"/>
          </a:p>
        </p:txBody>
      </p:sp>
      <p:sp>
        <p:nvSpPr>
          <p:cNvPr id="10" name="Shape 8"/>
          <p:cNvSpPr/>
          <p:nvPr/>
        </p:nvSpPr>
        <p:spPr>
          <a:xfrm>
            <a:off x="7995682" y="2588895"/>
            <a:ext cx="3380343" cy="2086610"/>
          </a:xfrm>
          <a:prstGeom prst="roundRect">
            <a:avLst>
              <a:gd name="adj" fmla="val 4717"/>
            </a:avLst>
          </a:prstGeom>
          <a:solidFill>
            <a:srgbClr val="FDFCF9"/>
          </a:solidFill>
          <a:ln w="6350">
            <a:solidFill>
              <a:srgbClr val="DAD8D0"/>
            </a:solidFill>
            <a:prstDash val="solid"/>
          </a:ln>
        </p:spPr>
      </p:sp>
      <p:sp>
        <p:nvSpPr>
          <p:cNvPr id="11" name="Text 9"/>
          <p:cNvSpPr/>
          <p:nvPr/>
        </p:nvSpPr>
        <p:spPr>
          <a:xfrm>
            <a:off x="8251587" y="2844800"/>
            <a:ext cx="2954589" cy="36068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4213D"/>
                </a:solidFill>
                <a:latin typeface="IBM Plex Sans" pitchFamily="34" charset="0"/>
                <a:ea typeface="IBM Plex Sans" pitchFamily="34" charset="-122"/>
                <a:cs typeface="IBM Plex Sans" pitchFamily="34" charset="-120"/>
              </a:rPr>
              <a:t>Report honestly</a:t>
            </a:r>
            <a:endParaRPr lang="en-US" sz="2200" dirty="0"/>
          </a:p>
        </p:txBody>
      </p:sp>
      <p:sp>
        <p:nvSpPr>
          <p:cNvPr id="12" name="Text 10"/>
          <p:cNvSpPr/>
          <p:nvPr/>
        </p:nvSpPr>
        <p:spPr>
          <a:xfrm>
            <a:off x="8251587" y="3281680"/>
            <a:ext cx="2954589" cy="1163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5568"/>
                </a:solidFill>
                <a:latin typeface="IBM Plex Sans" pitchFamily="34" charset="0"/>
                <a:ea typeface="IBM Plex Sans" pitchFamily="34" charset="-122"/>
                <a:cs typeface="IBM Plex Sans" pitchFamily="34" charset="-120"/>
              </a:rPr>
              <a:t>Always predicting “not spam” already scores 87.6% accuracy, so accuracy alone is a trap.</a:t>
            </a:r>
            <a:endParaRPr lang="en-US" sz="1600" dirty="0"/>
          </a:p>
        </p:txBody>
      </p:sp>
      <p:sp>
        <p:nvSpPr>
          <p:cNvPr id="13" name="Text 11"/>
          <p:cNvSpPr/>
          <p:nvPr/>
        </p:nvSpPr>
        <p:spPr>
          <a:xfrm>
            <a:off x="812800" y="6238241"/>
            <a:ext cx="65405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270"/>
                </a:solidFill>
                <a:latin typeface="IBM Plex Sans" pitchFamily="34" charset="0"/>
                <a:ea typeface="IBM Plex Sans" pitchFamily="34" charset="-122"/>
                <a:cs typeface="IBM Plex Sans" pitchFamily="34" charset="-120"/>
              </a:rPr>
              <a:t>SpamShield · Team 1 · MSDS 630 Residency NLP Hackathon</a:t>
            </a:r>
            <a:endParaRPr lang="en-US" sz="1200" dirty="0"/>
          </a:p>
        </p:txBody>
      </p:sp>
      <p:sp>
        <p:nvSpPr>
          <p:cNvPr id="14" name="Text 12"/>
          <p:cNvSpPr/>
          <p:nvPr/>
        </p:nvSpPr>
        <p:spPr>
          <a:xfrm>
            <a:off x="10058400" y="6238241"/>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A6270"/>
                </a:solidFill>
                <a:latin typeface="IBM Plex Sans" pitchFamily="34" charset="0"/>
                <a:ea typeface="IBM Plex Sans" pitchFamily="34" charset="-122"/>
                <a:cs typeface="IBM Plex Sans" pitchFamily="34" charset="-120"/>
              </a:rPr>
              <a:t>2 / 10</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1F5FBF"/>
                </a:solidFill>
                <a:latin typeface="IBM Plex Sans" pitchFamily="34" charset="0"/>
                <a:ea typeface="IBM Plex Sans" pitchFamily="34" charset="-122"/>
                <a:cs typeface="IBM Plex Sans" pitchFamily="34" charset="-120"/>
              </a:rPr>
              <a:t>THE DATA</a:t>
            </a:r>
            <a:endParaRPr lang="en-US" sz="1200" dirty="0"/>
          </a:p>
        </p:txBody>
      </p:sp>
      <p:sp>
        <p:nvSpPr>
          <p:cNvPr id="3" name="Text 1"/>
          <p:cNvSpPr/>
          <p:nvPr>
            <p:ph type="title"/>
          </p:nvPr>
        </p:nvSpPr>
        <p:spPr>
          <a:xfrm>
            <a:off x="812800" y="1280161"/>
            <a:ext cx="10883392" cy="551180"/>
          </a:xfrm>
          <a:prstGeom prst="rect">
            <a:avLst/>
          </a:prstGeom>
          <a:noFill/>
          <a:ln/>
        </p:spPr>
        <p:txBody>
          <a:bodyPr wrap="square" lIns="0" tIns="0" rIns="0" bIns="0" rtlCol="0" anchor="t">
            <a:normAutofit/>
          </a:bodyPr>
          <a:lstStyle/>
          <a:p>
            <a:pPr algn="l" indent="0" marL="0">
              <a:lnSpc>
                <a:spcPts val="4140"/>
              </a:lnSpc>
              <a:buNone/>
            </a:pPr>
            <a:r>
              <a:rPr lang="en-US" sz="3600" b="1" i="0" dirty="0">
                <a:solidFill>
                  <a:srgbClr val="14213D"/>
                </a:solidFill>
                <a:latin typeface="IBM Plex Sans" pitchFamily="34" charset="0"/>
                <a:ea typeface="IBM Plex Sans" pitchFamily="34" charset="-122"/>
                <a:cs typeface="IBM Plex Sans" pitchFamily="34" charset="-120"/>
              </a:rPr>
              <a:t>5,574 messages, 415 duplicates removed</a:t>
            </a:r>
            <a:endParaRPr lang="en-US" sz="3600" dirty="0"/>
          </a:p>
        </p:txBody>
      </p:sp>
      <p:sp>
        <p:nvSpPr>
          <p:cNvPr id="4" name="Shape 2"/>
          <p:cNvSpPr/>
          <p:nvPr/>
        </p:nvSpPr>
        <p:spPr>
          <a:xfrm>
            <a:off x="815975" y="2063116"/>
            <a:ext cx="3380264" cy="2051050"/>
          </a:xfrm>
          <a:prstGeom prst="roundRect">
            <a:avLst>
              <a:gd name="adj" fmla="val 4799"/>
            </a:avLst>
          </a:prstGeom>
          <a:solidFill>
            <a:srgbClr val="FDFCF9"/>
          </a:solidFill>
          <a:ln w="6350">
            <a:solidFill>
              <a:srgbClr val="DAD8D0"/>
            </a:solidFill>
            <a:prstDash val="solid"/>
          </a:ln>
        </p:spPr>
      </p:sp>
      <p:sp>
        <p:nvSpPr>
          <p:cNvPr id="5" name="Text 3"/>
          <p:cNvSpPr/>
          <p:nvPr/>
        </p:nvSpPr>
        <p:spPr>
          <a:xfrm>
            <a:off x="1071880" y="2319020"/>
            <a:ext cx="2954507" cy="863600"/>
          </a:xfrm>
          <a:prstGeom prst="rect">
            <a:avLst/>
          </a:prstGeom>
          <a:noFill/>
          <a:ln/>
        </p:spPr>
        <p:txBody>
          <a:bodyPr wrap="square" lIns="0" tIns="0" rIns="0" bIns="0" rtlCol="0" anchor="t">
            <a:normAutofit/>
          </a:bodyPr>
          <a:lstStyle/>
          <a:p>
            <a:pPr algn="l" indent="0" marL="0">
              <a:lnSpc>
                <a:spcPts val="6600"/>
              </a:lnSpc>
              <a:buNone/>
            </a:pPr>
            <a:r>
              <a:rPr lang="en-US" sz="6000" b="1" dirty="0">
                <a:solidFill>
                  <a:srgbClr val="1F5FBF"/>
                </a:solidFill>
                <a:latin typeface="JetBrains Mono" pitchFamily="49" charset="0"/>
                <a:ea typeface="JetBrains Mono" pitchFamily="49" charset="-122"/>
                <a:cs typeface="JetBrains Mono" pitchFamily="49" charset="-120"/>
              </a:rPr>
              <a:t>3,611</a:t>
            </a:r>
            <a:endParaRPr lang="en-US" sz="6000" dirty="0"/>
          </a:p>
        </p:txBody>
      </p:sp>
      <p:sp>
        <p:nvSpPr>
          <p:cNvPr id="6" name="Text 4"/>
          <p:cNvSpPr/>
          <p:nvPr/>
        </p:nvSpPr>
        <p:spPr>
          <a:xfrm>
            <a:off x="1071880" y="3258820"/>
            <a:ext cx="2954507"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4213D"/>
                </a:solidFill>
                <a:latin typeface="IBM Plex Sans" pitchFamily="34" charset="0"/>
                <a:ea typeface="IBM Plex Sans" pitchFamily="34" charset="-122"/>
                <a:cs typeface="IBM Plex Sans" pitchFamily="34" charset="-120"/>
              </a:rPr>
              <a:t>Train</a:t>
            </a:r>
            <a:endParaRPr lang="en-US" sz="1600" dirty="0"/>
          </a:p>
        </p:txBody>
      </p:sp>
      <p:sp>
        <p:nvSpPr>
          <p:cNvPr id="7" name="Text 5"/>
          <p:cNvSpPr/>
          <p:nvPr/>
        </p:nvSpPr>
        <p:spPr>
          <a:xfrm>
            <a:off x="1071880" y="3644900"/>
            <a:ext cx="295450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449 spam · fits the models</a:t>
            </a:r>
            <a:endParaRPr lang="en-US" sz="1200" dirty="0"/>
          </a:p>
        </p:txBody>
      </p:sp>
      <p:sp>
        <p:nvSpPr>
          <p:cNvPr id="8" name="Shape 6"/>
          <p:cNvSpPr/>
          <p:nvPr/>
        </p:nvSpPr>
        <p:spPr>
          <a:xfrm>
            <a:off x="4405789" y="2063116"/>
            <a:ext cx="3380343" cy="2051050"/>
          </a:xfrm>
          <a:prstGeom prst="roundRect">
            <a:avLst>
              <a:gd name="adj" fmla="val 4799"/>
            </a:avLst>
          </a:prstGeom>
          <a:solidFill>
            <a:srgbClr val="FDFCF9"/>
          </a:solidFill>
          <a:ln w="6350">
            <a:solidFill>
              <a:srgbClr val="DAD8D0"/>
            </a:solidFill>
            <a:prstDash val="solid"/>
          </a:ln>
        </p:spPr>
      </p:sp>
      <p:sp>
        <p:nvSpPr>
          <p:cNvPr id="9" name="Text 7"/>
          <p:cNvSpPr/>
          <p:nvPr/>
        </p:nvSpPr>
        <p:spPr>
          <a:xfrm>
            <a:off x="4661694" y="2319020"/>
            <a:ext cx="2954589" cy="863600"/>
          </a:xfrm>
          <a:prstGeom prst="rect">
            <a:avLst/>
          </a:prstGeom>
          <a:noFill/>
          <a:ln/>
        </p:spPr>
        <p:txBody>
          <a:bodyPr wrap="square" lIns="0" tIns="0" rIns="0" bIns="0" rtlCol="0" anchor="t">
            <a:normAutofit/>
          </a:bodyPr>
          <a:lstStyle/>
          <a:p>
            <a:pPr algn="l" indent="0" marL="0">
              <a:lnSpc>
                <a:spcPts val="6600"/>
              </a:lnSpc>
              <a:buNone/>
            </a:pPr>
            <a:r>
              <a:rPr lang="en-US" sz="6000" b="1" dirty="0">
                <a:solidFill>
                  <a:srgbClr val="1F5FBF"/>
                </a:solidFill>
                <a:latin typeface="JetBrains Mono" pitchFamily="49" charset="0"/>
                <a:ea typeface="JetBrains Mono" pitchFamily="49" charset="-122"/>
                <a:cs typeface="JetBrains Mono" pitchFamily="49" charset="-120"/>
              </a:rPr>
              <a:t>774</a:t>
            </a:r>
            <a:endParaRPr lang="en-US" sz="6000" dirty="0"/>
          </a:p>
        </p:txBody>
      </p:sp>
      <p:sp>
        <p:nvSpPr>
          <p:cNvPr id="10" name="Text 8"/>
          <p:cNvSpPr/>
          <p:nvPr/>
        </p:nvSpPr>
        <p:spPr>
          <a:xfrm>
            <a:off x="4661694" y="3258820"/>
            <a:ext cx="2954589"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4213D"/>
                </a:solidFill>
                <a:latin typeface="IBM Plex Sans" pitchFamily="34" charset="0"/>
                <a:ea typeface="IBM Plex Sans" pitchFamily="34" charset="-122"/>
                <a:cs typeface="IBM Plex Sans" pitchFamily="34" charset="-120"/>
              </a:rPr>
              <a:t>Dev</a:t>
            </a:r>
            <a:endParaRPr lang="en-US" sz="1600" dirty="0"/>
          </a:p>
        </p:txBody>
      </p:sp>
      <p:sp>
        <p:nvSpPr>
          <p:cNvPr id="11" name="Text 9"/>
          <p:cNvSpPr/>
          <p:nvPr/>
        </p:nvSpPr>
        <p:spPr>
          <a:xfrm>
            <a:off x="4661694" y="3644900"/>
            <a:ext cx="2954589"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97 spam · picks the threshold</a:t>
            </a:r>
            <a:endParaRPr lang="en-US" sz="1200" dirty="0"/>
          </a:p>
        </p:txBody>
      </p:sp>
      <p:sp>
        <p:nvSpPr>
          <p:cNvPr id="12" name="Shape 10"/>
          <p:cNvSpPr/>
          <p:nvPr/>
        </p:nvSpPr>
        <p:spPr>
          <a:xfrm>
            <a:off x="7995682" y="2063116"/>
            <a:ext cx="3380343" cy="2051050"/>
          </a:xfrm>
          <a:prstGeom prst="roundRect">
            <a:avLst>
              <a:gd name="adj" fmla="val 4799"/>
            </a:avLst>
          </a:prstGeom>
          <a:solidFill>
            <a:srgbClr val="FDFCF9"/>
          </a:solidFill>
          <a:ln w="6350">
            <a:solidFill>
              <a:srgbClr val="DAD8D0"/>
            </a:solidFill>
            <a:prstDash val="solid"/>
          </a:ln>
        </p:spPr>
      </p:sp>
      <p:sp>
        <p:nvSpPr>
          <p:cNvPr id="13" name="Text 11"/>
          <p:cNvSpPr/>
          <p:nvPr/>
        </p:nvSpPr>
        <p:spPr>
          <a:xfrm>
            <a:off x="8251587" y="2319020"/>
            <a:ext cx="2954589" cy="863600"/>
          </a:xfrm>
          <a:prstGeom prst="rect">
            <a:avLst/>
          </a:prstGeom>
          <a:noFill/>
          <a:ln/>
        </p:spPr>
        <p:txBody>
          <a:bodyPr wrap="square" lIns="0" tIns="0" rIns="0" bIns="0" rtlCol="0" anchor="t">
            <a:normAutofit/>
          </a:bodyPr>
          <a:lstStyle/>
          <a:p>
            <a:pPr algn="l" indent="0" marL="0">
              <a:lnSpc>
                <a:spcPts val="6600"/>
              </a:lnSpc>
              <a:buNone/>
            </a:pPr>
            <a:r>
              <a:rPr lang="en-US" sz="6000" b="1" dirty="0">
                <a:solidFill>
                  <a:srgbClr val="1F5FBF"/>
                </a:solidFill>
                <a:latin typeface="JetBrains Mono" pitchFamily="49" charset="0"/>
                <a:ea typeface="JetBrains Mono" pitchFamily="49" charset="-122"/>
                <a:cs typeface="JetBrains Mono" pitchFamily="49" charset="-120"/>
              </a:rPr>
              <a:t>774</a:t>
            </a:r>
            <a:endParaRPr lang="en-US" sz="6000" dirty="0"/>
          </a:p>
        </p:txBody>
      </p:sp>
      <p:sp>
        <p:nvSpPr>
          <p:cNvPr id="14" name="Text 12"/>
          <p:cNvSpPr/>
          <p:nvPr/>
        </p:nvSpPr>
        <p:spPr>
          <a:xfrm>
            <a:off x="8251587" y="3258820"/>
            <a:ext cx="2954589"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4213D"/>
                </a:solidFill>
                <a:latin typeface="IBM Plex Sans" pitchFamily="34" charset="0"/>
                <a:ea typeface="IBM Plex Sans" pitchFamily="34" charset="-122"/>
                <a:cs typeface="IBM Plex Sans" pitchFamily="34" charset="-120"/>
              </a:rPr>
              <a:t>Test</a:t>
            </a:r>
            <a:endParaRPr lang="en-US" sz="1600" dirty="0"/>
          </a:p>
        </p:txBody>
      </p:sp>
      <p:sp>
        <p:nvSpPr>
          <p:cNvPr id="15" name="Text 13"/>
          <p:cNvSpPr/>
          <p:nvPr/>
        </p:nvSpPr>
        <p:spPr>
          <a:xfrm>
            <a:off x="8251587" y="3644900"/>
            <a:ext cx="2954589"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96 spam · scored once at the end</a:t>
            </a:r>
            <a:endParaRPr lang="en-US" sz="1200" dirty="0"/>
          </a:p>
        </p:txBody>
      </p:sp>
      <p:sp>
        <p:nvSpPr>
          <p:cNvPr id="16" name="Text 14"/>
          <p:cNvSpPr/>
          <p:nvPr/>
        </p:nvSpPr>
        <p:spPr>
          <a:xfrm>
            <a:off x="812800" y="4371341"/>
            <a:ext cx="10883392"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4213D"/>
                </a:solidFill>
                <a:latin typeface="IBM Plex Sans" pitchFamily="34" charset="0"/>
                <a:ea typeface="IBM Plex Sans" pitchFamily="34" charset="-122"/>
                <a:cs typeface="IBM Plex Sans" pitchFamily="34" charset="-120"/>
              </a:rPr>
              <a:t>Duplicates removed first</a:t>
            </a:r>
            <a:r>
              <a:rPr lang="en-US" sz="1600" dirty="0">
                <a:solidFill>
                  <a:srgbClr val="14213D"/>
                </a:solidFill>
                <a:latin typeface="IBM Plex Sans" pitchFamily="34" charset="0"/>
                <a:ea typeface="IBM Plex Sans" pitchFamily="34" charset="-122"/>
                <a:cs typeface="IBM Plex Sans" pitchFamily="34" charset="-120"/>
              </a:rPr>
              <a:t>, so no test message is a copy of a training message.</a:t>
            </a:r>
            <a:endParaRPr lang="en-US" sz="1600" dirty="0"/>
          </a:p>
        </p:txBody>
      </p:sp>
      <p:sp>
        <p:nvSpPr>
          <p:cNvPr id="17" name="Text 15"/>
          <p:cNvSpPr/>
          <p:nvPr/>
        </p:nvSpPr>
        <p:spPr>
          <a:xfrm>
            <a:off x="812800" y="4732020"/>
            <a:ext cx="10883392"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4213D"/>
                </a:solidFill>
                <a:latin typeface="IBM Plex Sans" pitchFamily="34" charset="0"/>
                <a:ea typeface="IBM Plex Sans" pitchFamily="34" charset="-122"/>
                <a:cs typeface="IBM Plex Sans" pitchFamily="34" charset="-120"/>
              </a:rPr>
              <a:t>Vectorizer fit on train only</a:t>
            </a:r>
            <a:r>
              <a:rPr lang="en-US" sz="1600" dirty="0">
                <a:solidFill>
                  <a:srgbClr val="14213D"/>
                </a:solidFill>
                <a:latin typeface="IBM Plex Sans" pitchFamily="34" charset="0"/>
                <a:ea typeface="IBM Plex Sans" pitchFamily="34" charset="-122"/>
                <a:cs typeface="IBM Plex Sans" pitchFamily="34" charset="-120"/>
              </a:rPr>
              <a:t>, so nothing about the test set leaks in.</a:t>
            </a:r>
            <a:endParaRPr lang="en-US" sz="1600" dirty="0"/>
          </a:p>
        </p:txBody>
      </p:sp>
      <p:sp>
        <p:nvSpPr>
          <p:cNvPr id="18" name="Text 16"/>
          <p:cNvSpPr/>
          <p:nvPr/>
        </p:nvSpPr>
        <p:spPr>
          <a:xfrm>
            <a:off x="812800" y="5092700"/>
            <a:ext cx="10883392"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4213D"/>
                </a:solidFill>
                <a:latin typeface="IBM Plex Sans" pitchFamily="34" charset="0"/>
                <a:ea typeface="IBM Plex Sans" pitchFamily="34" charset="-122"/>
                <a:cs typeface="IBM Plex Sans" pitchFamily="34" charset="-120"/>
              </a:rPr>
              <a:t>Stratified split, fixed seed 42</a:t>
            </a:r>
            <a:r>
              <a:rPr lang="en-US" sz="1600" dirty="0">
                <a:solidFill>
                  <a:srgbClr val="14213D"/>
                </a:solidFill>
                <a:latin typeface="IBM Plex Sans" pitchFamily="34" charset="0"/>
                <a:ea typeface="IBM Plex Sans" pitchFamily="34" charset="-122"/>
                <a:cs typeface="IBM Plex Sans" pitchFamily="34" charset="-120"/>
              </a:rPr>
              <a:t>, so every split keeps about 12% spam.</a:t>
            </a:r>
            <a:endParaRPr lang="en-US" sz="1600" dirty="0"/>
          </a:p>
        </p:txBody>
      </p:sp>
      <p:sp>
        <p:nvSpPr>
          <p:cNvPr id="19" name="Text 17"/>
          <p:cNvSpPr/>
          <p:nvPr/>
        </p:nvSpPr>
        <p:spPr>
          <a:xfrm>
            <a:off x="812800" y="6238241"/>
            <a:ext cx="65405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270"/>
                </a:solidFill>
                <a:latin typeface="IBM Plex Sans" pitchFamily="34" charset="0"/>
                <a:ea typeface="IBM Plex Sans" pitchFamily="34" charset="-122"/>
                <a:cs typeface="IBM Plex Sans" pitchFamily="34" charset="-120"/>
              </a:rPr>
              <a:t>SpamShield · Team 1 · UCI SMS Spam Collection, 12.4% spam after de-duplication</a:t>
            </a:r>
            <a:endParaRPr lang="en-US" sz="1200" dirty="0"/>
          </a:p>
        </p:txBody>
      </p:sp>
      <p:sp>
        <p:nvSpPr>
          <p:cNvPr id="20" name="Text 18"/>
          <p:cNvSpPr/>
          <p:nvPr/>
        </p:nvSpPr>
        <p:spPr>
          <a:xfrm>
            <a:off x="10058400" y="6238241"/>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A6270"/>
                </a:solidFill>
                <a:latin typeface="IBM Plex Sans" pitchFamily="34" charset="0"/>
                <a:ea typeface="IBM Plex Sans" pitchFamily="34" charset="-122"/>
                <a:cs typeface="IBM Plex Sans" pitchFamily="34" charset="-120"/>
              </a:rPr>
              <a:t>3 / 10</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1F5FBF"/>
                </a:solidFill>
                <a:latin typeface="IBM Plex Sans" pitchFamily="34" charset="0"/>
                <a:ea typeface="IBM Plex Sans" pitchFamily="34" charset="-122"/>
                <a:cs typeface="IBM Plex Sans" pitchFamily="34" charset="-120"/>
              </a:rPr>
              <a:t>THE APPROACH</a:t>
            </a:r>
            <a:endParaRPr lang="en-US" sz="1200" dirty="0"/>
          </a:p>
        </p:txBody>
      </p:sp>
      <p:sp>
        <p:nvSpPr>
          <p:cNvPr id="3" name="Text 1"/>
          <p:cNvSpPr/>
          <p:nvPr>
            <p:ph type="title"/>
          </p:nvPr>
        </p:nvSpPr>
        <p:spPr>
          <a:xfrm>
            <a:off x="812800" y="1280161"/>
            <a:ext cx="11379200" cy="551180"/>
          </a:xfrm>
          <a:prstGeom prst="rect">
            <a:avLst/>
          </a:prstGeom>
          <a:noFill/>
          <a:ln/>
        </p:spPr>
        <p:txBody>
          <a:bodyPr wrap="square" lIns="0" tIns="0" rIns="0" bIns="0" rtlCol="0" anchor="t">
            <a:normAutofit/>
          </a:bodyPr>
          <a:lstStyle/>
          <a:p>
            <a:pPr algn="l" indent="0" marL="0">
              <a:lnSpc>
                <a:spcPts val="4140"/>
              </a:lnSpc>
              <a:buNone/>
            </a:pPr>
            <a:r>
              <a:rPr lang="en-US" sz="3600" b="1" i="0" dirty="0">
                <a:solidFill>
                  <a:srgbClr val="14213D"/>
                </a:solidFill>
                <a:latin typeface="IBM Plex Sans" pitchFamily="34" charset="0"/>
                <a:ea typeface="IBM Plex Sans" pitchFamily="34" charset="-122"/>
                <a:cs typeface="IBM Plex Sans" pitchFamily="34" charset="-120"/>
              </a:rPr>
              <a:t>From a from-scratch baseline to a tuned classifier</a:t>
            </a:r>
            <a:endParaRPr lang="en-US" sz="3600" dirty="0"/>
          </a:p>
        </p:txBody>
      </p:sp>
      <p:sp>
        <p:nvSpPr>
          <p:cNvPr id="4" name="Shape 2"/>
          <p:cNvSpPr/>
          <p:nvPr/>
        </p:nvSpPr>
        <p:spPr>
          <a:xfrm>
            <a:off x="815975" y="2063116"/>
            <a:ext cx="2254250" cy="1985010"/>
          </a:xfrm>
          <a:prstGeom prst="roundRect">
            <a:avLst>
              <a:gd name="adj" fmla="val 4958"/>
            </a:avLst>
          </a:prstGeom>
          <a:solidFill>
            <a:srgbClr val="FDFCF9"/>
          </a:solidFill>
          <a:ln w="6350">
            <a:solidFill>
              <a:srgbClr val="DAD8D0"/>
            </a:solidFill>
            <a:prstDash val="solid"/>
          </a:ln>
        </p:spPr>
      </p:sp>
      <p:sp>
        <p:nvSpPr>
          <p:cNvPr id="5" name="Text 3"/>
          <p:cNvSpPr/>
          <p:nvPr/>
        </p:nvSpPr>
        <p:spPr>
          <a:xfrm>
            <a:off x="1021080" y="2268220"/>
            <a:ext cx="1899361" cy="36068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4213D"/>
                </a:solidFill>
                <a:latin typeface="IBM Plex Sans" pitchFamily="34" charset="0"/>
                <a:ea typeface="IBM Plex Sans" pitchFamily="34" charset="-122"/>
                <a:cs typeface="IBM Plex Sans" pitchFamily="34" charset="-120"/>
              </a:rPr>
              <a:t>Clean</a:t>
            </a:r>
            <a:endParaRPr lang="en-US" sz="2200" dirty="0"/>
          </a:p>
        </p:txBody>
      </p:sp>
      <p:sp>
        <p:nvSpPr>
          <p:cNvPr id="6" name="Text 4"/>
          <p:cNvSpPr/>
          <p:nvPr/>
        </p:nvSpPr>
        <p:spPr>
          <a:xfrm>
            <a:off x="1021080" y="2705100"/>
            <a:ext cx="1899361" cy="87884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5568"/>
                </a:solidFill>
                <a:latin typeface="IBM Plex Sans" pitchFamily="34" charset="0"/>
                <a:ea typeface="IBM Plex Sans" pitchFamily="34" charset="-122"/>
                <a:cs typeface="IBM Plex Sans" pitchFamily="34" charset="-120"/>
              </a:rPr>
              <a:t>Lowercase, turn links into one token, split into words.</a:t>
            </a:r>
            <a:endParaRPr lang="en-US" sz="1600" dirty="0"/>
          </a:p>
        </p:txBody>
      </p:sp>
      <p:pic>
        <p:nvPicPr>
          <p:cNvPr id="7" name="Image 0" descr="arrow-right">    </p:cNvPr>
          <p:cNvPicPr>
            <a:picLocks noChangeAspect="1"/>
          </p:cNvPicPr>
          <p:nvPr/>
        </p:nvPicPr>
        <p:blipFill>
          <a:blip r:embed="rId1"/>
          <a:srcRect l="0" r="0" t="0" b="0"/>
          <a:stretch/>
        </p:blipFill>
        <p:spPr>
          <a:xfrm>
            <a:off x="3175000" y="2954020"/>
            <a:ext cx="304800" cy="203200"/>
          </a:xfrm>
          <a:prstGeom prst="rect">
            <a:avLst/>
          </a:prstGeom>
        </p:spPr>
      </p:pic>
      <p:sp>
        <p:nvSpPr>
          <p:cNvPr id="8" name="Shape 5"/>
          <p:cNvSpPr/>
          <p:nvPr/>
        </p:nvSpPr>
        <p:spPr>
          <a:xfrm>
            <a:off x="3584575" y="2063116"/>
            <a:ext cx="2254250" cy="1985010"/>
          </a:xfrm>
          <a:prstGeom prst="roundRect">
            <a:avLst>
              <a:gd name="adj" fmla="val 4958"/>
            </a:avLst>
          </a:prstGeom>
          <a:solidFill>
            <a:srgbClr val="FDFCF9"/>
          </a:solidFill>
          <a:ln w="6350">
            <a:solidFill>
              <a:srgbClr val="DAD8D0"/>
            </a:solidFill>
            <a:prstDash val="solid"/>
          </a:ln>
        </p:spPr>
      </p:sp>
      <p:sp>
        <p:nvSpPr>
          <p:cNvPr id="9" name="Text 6"/>
          <p:cNvSpPr/>
          <p:nvPr/>
        </p:nvSpPr>
        <p:spPr>
          <a:xfrm>
            <a:off x="3789680" y="2268220"/>
            <a:ext cx="1899361" cy="36068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4213D"/>
                </a:solidFill>
                <a:latin typeface="IBM Plex Sans" pitchFamily="34" charset="0"/>
                <a:ea typeface="IBM Plex Sans" pitchFamily="34" charset="-122"/>
                <a:cs typeface="IBM Plex Sans" pitchFamily="34" charset="-120"/>
              </a:rPr>
              <a:t>Baseline</a:t>
            </a:r>
            <a:endParaRPr lang="en-US" sz="2200" dirty="0"/>
          </a:p>
        </p:txBody>
      </p:sp>
      <p:sp>
        <p:nvSpPr>
          <p:cNvPr id="10" name="Text 7"/>
          <p:cNvSpPr/>
          <p:nvPr/>
        </p:nvSpPr>
        <p:spPr>
          <a:xfrm>
            <a:off x="3789680" y="2705100"/>
            <a:ext cx="1899361" cy="87884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5568"/>
                </a:solidFill>
                <a:latin typeface="IBM Plex Sans" pitchFamily="34" charset="0"/>
                <a:ea typeface="IBM Plex Sans" pitchFamily="34" charset="-122"/>
                <a:cs typeface="IBM Plex Sans" pitchFamily="34" charset="-120"/>
              </a:rPr>
              <a:t>Naive Bayes written from scratch with add-1 smoothing.</a:t>
            </a:r>
            <a:endParaRPr lang="en-US" sz="1600" dirty="0"/>
          </a:p>
        </p:txBody>
      </p:sp>
      <p:pic>
        <p:nvPicPr>
          <p:cNvPr id="11" name="Image 1" descr="arrow-right">    </p:cNvPr>
          <p:cNvPicPr>
            <a:picLocks noChangeAspect="1"/>
          </p:cNvPicPr>
          <p:nvPr/>
        </p:nvPicPr>
        <p:blipFill>
          <a:blip r:embed="rId2"/>
          <a:srcRect l="0" r="0" t="0" b="0"/>
          <a:stretch/>
        </p:blipFill>
        <p:spPr>
          <a:xfrm>
            <a:off x="5943600" y="2954020"/>
            <a:ext cx="304800" cy="203200"/>
          </a:xfrm>
          <a:prstGeom prst="rect">
            <a:avLst/>
          </a:prstGeom>
        </p:spPr>
      </p:pic>
      <p:sp>
        <p:nvSpPr>
          <p:cNvPr id="12" name="Shape 8"/>
          <p:cNvSpPr/>
          <p:nvPr/>
        </p:nvSpPr>
        <p:spPr>
          <a:xfrm>
            <a:off x="6353175" y="2063116"/>
            <a:ext cx="2254250" cy="1985010"/>
          </a:xfrm>
          <a:prstGeom prst="roundRect">
            <a:avLst>
              <a:gd name="adj" fmla="val 4958"/>
            </a:avLst>
          </a:prstGeom>
          <a:solidFill>
            <a:srgbClr val="FDFCF9"/>
          </a:solidFill>
          <a:ln w="6350">
            <a:solidFill>
              <a:srgbClr val="DAD8D0"/>
            </a:solidFill>
            <a:prstDash val="solid"/>
          </a:ln>
        </p:spPr>
      </p:sp>
      <p:sp>
        <p:nvSpPr>
          <p:cNvPr id="13" name="Text 9"/>
          <p:cNvSpPr/>
          <p:nvPr/>
        </p:nvSpPr>
        <p:spPr>
          <a:xfrm>
            <a:off x="6558280" y="2268220"/>
            <a:ext cx="1899361" cy="36068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4213D"/>
                </a:solidFill>
                <a:latin typeface="IBM Plex Sans" pitchFamily="34" charset="0"/>
                <a:ea typeface="IBM Plex Sans" pitchFamily="34" charset="-122"/>
                <a:cs typeface="IBM Plex Sans" pitchFamily="34" charset="-120"/>
              </a:rPr>
              <a:t>Compare</a:t>
            </a:r>
            <a:endParaRPr lang="en-US" sz="2200" dirty="0"/>
          </a:p>
        </p:txBody>
      </p:sp>
      <p:sp>
        <p:nvSpPr>
          <p:cNvPr id="14" name="Text 10"/>
          <p:cNvSpPr/>
          <p:nvPr/>
        </p:nvSpPr>
        <p:spPr>
          <a:xfrm>
            <a:off x="6558280" y="2705100"/>
            <a:ext cx="1899361" cy="1163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5568"/>
                </a:solidFill>
                <a:latin typeface="IBM Plex Sans" pitchFamily="34" charset="0"/>
                <a:ea typeface="IBM Plex Sans" pitchFamily="34" charset="-122"/>
                <a:cs typeface="IBM Plex Sans" pitchFamily="34" charset="-120"/>
              </a:rPr>
              <a:t>scikit-learn Naive Bayes and logistic regression on TF-IDF.</a:t>
            </a:r>
            <a:endParaRPr lang="en-US" sz="1600" dirty="0"/>
          </a:p>
        </p:txBody>
      </p:sp>
      <p:pic>
        <p:nvPicPr>
          <p:cNvPr id="15" name="Image 2" descr="arrow-right">    </p:cNvPr>
          <p:cNvPicPr>
            <a:picLocks noChangeAspect="1"/>
          </p:cNvPicPr>
          <p:nvPr/>
        </p:nvPicPr>
        <p:blipFill>
          <a:blip r:embed="rId3"/>
          <a:srcRect l="0" r="0" t="0" b="0"/>
          <a:stretch/>
        </p:blipFill>
        <p:spPr>
          <a:xfrm>
            <a:off x="8712200" y="2954020"/>
            <a:ext cx="304800" cy="203200"/>
          </a:xfrm>
          <a:prstGeom prst="rect">
            <a:avLst/>
          </a:prstGeom>
        </p:spPr>
      </p:pic>
      <p:sp>
        <p:nvSpPr>
          <p:cNvPr id="16" name="Shape 11"/>
          <p:cNvSpPr/>
          <p:nvPr/>
        </p:nvSpPr>
        <p:spPr>
          <a:xfrm>
            <a:off x="9121775" y="2063116"/>
            <a:ext cx="2254250" cy="1985010"/>
          </a:xfrm>
          <a:prstGeom prst="roundRect">
            <a:avLst>
              <a:gd name="adj" fmla="val 4958"/>
            </a:avLst>
          </a:prstGeom>
          <a:solidFill>
            <a:srgbClr val="FDFCF9"/>
          </a:solidFill>
          <a:ln w="6350">
            <a:solidFill>
              <a:srgbClr val="DAD8D0"/>
            </a:solidFill>
            <a:prstDash val="solid"/>
          </a:ln>
        </p:spPr>
      </p:sp>
      <p:sp>
        <p:nvSpPr>
          <p:cNvPr id="17" name="Text 12"/>
          <p:cNvSpPr/>
          <p:nvPr/>
        </p:nvSpPr>
        <p:spPr>
          <a:xfrm>
            <a:off x="9326880" y="2268220"/>
            <a:ext cx="1899361" cy="36068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4213D"/>
                </a:solidFill>
                <a:latin typeface="IBM Plex Sans" pitchFamily="34" charset="0"/>
                <a:ea typeface="IBM Plex Sans" pitchFamily="34" charset="-122"/>
                <a:cs typeface="IBM Plex Sans" pitchFamily="34" charset="-120"/>
              </a:rPr>
              <a:t>Tune and test</a:t>
            </a:r>
            <a:endParaRPr lang="en-US" sz="2200" dirty="0"/>
          </a:p>
        </p:txBody>
      </p:sp>
      <p:sp>
        <p:nvSpPr>
          <p:cNvPr id="18" name="Text 13"/>
          <p:cNvSpPr/>
          <p:nvPr/>
        </p:nvSpPr>
        <p:spPr>
          <a:xfrm>
            <a:off x="9326880" y="2705100"/>
            <a:ext cx="1899361" cy="87884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5568"/>
                </a:solidFill>
                <a:latin typeface="IBM Plex Sans" pitchFamily="34" charset="0"/>
                <a:ea typeface="IBM Plex Sans" pitchFamily="34" charset="-122"/>
                <a:cs typeface="IBM Plex Sans" pitchFamily="34" charset="-120"/>
              </a:rPr>
              <a:t>Pick the threshold on dev, then score the test set once.</a:t>
            </a:r>
            <a:endParaRPr lang="en-US" sz="1600" dirty="0"/>
          </a:p>
        </p:txBody>
      </p:sp>
      <p:sp>
        <p:nvSpPr>
          <p:cNvPr id="19" name="Text 14"/>
          <p:cNvSpPr/>
          <p:nvPr/>
        </p:nvSpPr>
        <p:spPr>
          <a:xfrm>
            <a:off x="812800" y="4305300"/>
            <a:ext cx="10883392"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4213D"/>
                </a:solidFill>
                <a:latin typeface="IBM Plex Sans" pitchFamily="34" charset="0"/>
                <a:ea typeface="IBM Plex Sans" pitchFamily="34" charset="-122"/>
                <a:cs typeface="IBM Plex Sans" pitchFamily="34" charset="-120"/>
              </a:rPr>
              <a:t>What we measure:</a:t>
            </a:r>
            <a:r>
              <a:rPr lang="en-US" sz="1600" dirty="0">
                <a:solidFill>
                  <a:srgbClr val="14213D"/>
                </a:solidFill>
                <a:latin typeface="IBM Plex Sans" pitchFamily="34" charset="0"/>
                <a:ea typeface="IBM Plex Sans" pitchFamily="34" charset="-122"/>
                <a:cs typeface="IBM Plex Sans" pitchFamily="34" charset="-120"/>
              </a:rPr>
              <a:t> spam precision, recall, F1 and the false-positive rate. Spam is the positive class.</a:t>
            </a:r>
            <a:endParaRPr lang="en-US" sz="1600" dirty="0"/>
          </a:p>
        </p:txBody>
      </p:sp>
      <p:sp>
        <p:nvSpPr>
          <p:cNvPr id="20" name="Text 15"/>
          <p:cNvSpPr/>
          <p:nvPr/>
        </p:nvSpPr>
        <p:spPr>
          <a:xfrm>
            <a:off x="812800" y="6238239"/>
            <a:ext cx="65405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270"/>
                </a:solidFill>
                <a:latin typeface="IBM Plex Sans" pitchFamily="34" charset="0"/>
                <a:ea typeface="IBM Plex Sans" pitchFamily="34" charset="-122"/>
                <a:cs typeface="IBM Plex Sans" pitchFamily="34" charset="-120"/>
              </a:rPr>
              <a:t>SpamShield · Team 1 · Jurafsky &amp; Martin Ch. 4 and Ch. 5 methods</a:t>
            </a:r>
            <a:endParaRPr lang="en-US" sz="1200" dirty="0"/>
          </a:p>
        </p:txBody>
      </p:sp>
      <p:sp>
        <p:nvSpPr>
          <p:cNvPr id="21" name="Text 16"/>
          <p:cNvSpPr/>
          <p:nvPr/>
        </p:nvSpPr>
        <p:spPr>
          <a:xfrm>
            <a:off x="10058400" y="6238239"/>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A6270"/>
                </a:solidFill>
                <a:latin typeface="IBM Plex Sans" pitchFamily="34" charset="0"/>
                <a:ea typeface="IBM Plex Sans" pitchFamily="34" charset="-122"/>
                <a:cs typeface="IBM Plex Sans" pitchFamily="34" charset="-120"/>
              </a:rPr>
              <a:t>4 / 10</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6F2"/>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51180"/>
          </a:xfrm>
          <a:prstGeom prst="rect">
            <a:avLst/>
          </a:prstGeom>
          <a:noFill/>
          <a:ln/>
        </p:spPr>
        <p:txBody>
          <a:bodyPr wrap="square" lIns="0" tIns="0" rIns="0" bIns="0" rtlCol="0" anchor="t">
            <a:normAutofit/>
          </a:bodyPr>
          <a:lstStyle/>
          <a:p>
            <a:pPr algn="l" indent="0" marL="0">
              <a:lnSpc>
                <a:spcPts val="4140"/>
              </a:lnSpc>
              <a:buNone/>
            </a:pPr>
            <a:r>
              <a:rPr lang="en-US" sz="3600" b="1" i="0" dirty="0">
                <a:solidFill>
                  <a:srgbClr val="14213D"/>
                </a:solidFill>
                <a:latin typeface="IBM Plex Sans" pitchFamily="34" charset="0"/>
                <a:ea typeface="IBM Plex Sans" pitchFamily="34" charset="-122"/>
                <a:cs typeface="IBM Plex Sans" pitchFamily="34" charset="-120"/>
              </a:rPr>
              <a:t>Baseline: Naive Bayes, written from scratch</a:t>
            </a:r>
            <a:endParaRPr lang="en-US" sz="3600" dirty="0"/>
          </a:p>
        </p:txBody>
      </p:sp>
      <p:sp>
        <p:nvSpPr>
          <p:cNvPr id="3" name="Shape 1"/>
          <p:cNvSpPr/>
          <p:nvPr/>
        </p:nvSpPr>
        <p:spPr>
          <a:xfrm>
            <a:off x="812800" y="1592582"/>
            <a:ext cx="6049248" cy="3017520"/>
          </a:xfrm>
          <a:prstGeom prst="roundRect">
            <a:avLst>
              <a:gd name="adj" fmla="val 3367"/>
            </a:avLst>
          </a:prstGeom>
          <a:solidFill>
            <a:srgbClr val="14213D"/>
          </a:solidFill>
          <a:ln/>
        </p:spPr>
      </p:sp>
      <p:sp>
        <p:nvSpPr>
          <p:cNvPr id="4" name="Text 2"/>
          <p:cNvSpPr/>
          <p:nvPr/>
        </p:nvSpPr>
        <p:spPr>
          <a:xfrm>
            <a:off x="1066800" y="1846582"/>
            <a:ext cx="5707486"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8DB6F2"/>
                </a:solidFill>
                <a:latin typeface="IBM Plex Sans" pitchFamily="34" charset="0"/>
                <a:ea typeface="IBM Plex Sans" pitchFamily="34" charset="-122"/>
                <a:cs typeface="IBM Plex Sans" pitchFamily="34" charset="-120"/>
              </a:rPr>
              <a:t>Prior</a:t>
            </a:r>
            <a:endParaRPr lang="en-US" sz="1200" dirty="0"/>
          </a:p>
        </p:txBody>
      </p:sp>
      <p:sp>
        <p:nvSpPr>
          <p:cNvPr id="5" name="Text 3"/>
          <p:cNvSpPr/>
          <p:nvPr/>
        </p:nvSpPr>
        <p:spPr>
          <a:xfrm>
            <a:off x="1066800" y="2110739"/>
            <a:ext cx="5707486"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7F6F2"/>
                </a:solidFill>
                <a:latin typeface="JetBrains Mono" pitchFamily="49" charset="0"/>
                <a:ea typeface="JetBrains Mono" pitchFamily="49" charset="-122"/>
                <a:cs typeface="JetBrains Mono" pitchFamily="49" charset="-120"/>
              </a:rPr>
              <a:t>P(c) = docs in c / all docs</a:t>
            </a:r>
            <a:endParaRPr lang="en-US" sz="1600" dirty="0"/>
          </a:p>
        </p:txBody>
      </p:sp>
      <p:sp>
        <p:nvSpPr>
          <p:cNvPr id="6" name="Text 4"/>
          <p:cNvSpPr/>
          <p:nvPr/>
        </p:nvSpPr>
        <p:spPr>
          <a:xfrm>
            <a:off x="1066800" y="2547621"/>
            <a:ext cx="5707486"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8DB6F2"/>
                </a:solidFill>
                <a:latin typeface="IBM Plex Sans" pitchFamily="34" charset="0"/>
                <a:ea typeface="IBM Plex Sans" pitchFamily="34" charset="-122"/>
                <a:cs typeface="IBM Plex Sans" pitchFamily="34" charset="-120"/>
              </a:rPr>
              <a:t>Likelihood with add-1 smoothing</a:t>
            </a:r>
            <a:endParaRPr lang="en-US" sz="1200" dirty="0"/>
          </a:p>
        </p:txBody>
      </p:sp>
      <p:sp>
        <p:nvSpPr>
          <p:cNvPr id="7" name="Text 5"/>
          <p:cNvSpPr/>
          <p:nvPr/>
        </p:nvSpPr>
        <p:spPr>
          <a:xfrm>
            <a:off x="1066800" y="2811782"/>
            <a:ext cx="5707486"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7F6F2"/>
                </a:solidFill>
                <a:latin typeface="JetBrains Mono" pitchFamily="49" charset="0"/>
                <a:ea typeface="JetBrains Mono" pitchFamily="49" charset="-122"/>
                <a:cs typeface="JetBrains Mono" pitchFamily="49" charset="-120"/>
              </a:rPr>
              <a:t>P(w|c) = (count(w,c) + 1) / (N_c + |V|)</a:t>
            </a:r>
            <a:endParaRPr lang="en-US" sz="1600" dirty="0"/>
          </a:p>
        </p:txBody>
      </p:sp>
      <p:sp>
        <p:nvSpPr>
          <p:cNvPr id="8" name="Text 6"/>
          <p:cNvSpPr/>
          <p:nvPr/>
        </p:nvSpPr>
        <p:spPr>
          <a:xfrm>
            <a:off x="1066800" y="3248661"/>
            <a:ext cx="5707486"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8DB6F2"/>
                </a:solidFill>
                <a:latin typeface="IBM Plex Sans" pitchFamily="34" charset="0"/>
                <a:ea typeface="IBM Plex Sans" pitchFamily="34" charset="-122"/>
                <a:cs typeface="IBM Plex Sans" pitchFamily="34" charset="-120"/>
              </a:rPr>
              <a:t>Class score, in log space</a:t>
            </a:r>
            <a:endParaRPr lang="en-US" sz="1200" dirty="0"/>
          </a:p>
        </p:txBody>
      </p:sp>
      <p:sp>
        <p:nvSpPr>
          <p:cNvPr id="9" name="Text 7"/>
          <p:cNvSpPr/>
          <p:nvPr/>
        </p:nvSpPr>
        <p:spPr>
          <a:xfrm>
            <a:off x="1066800" y="3512821"/>
            <a:ext cx="5707486"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7F6F2"/>
                </a:solidFill>
                <a:latin typeface="JetBrains Mono" pitchFamily="49" charset="0"/>
                <a:ea typeface="JetBrains Mono" pitchFamily="49" charset="-122"/>
                <a:cs typeface="JetBrains Mono" pitchFamily="49" charset="-120"/>
              </a:rPr>
              <a:t>score(c) = log P(c) + Σ log P(w|c)</a:t>
            </a:r>
            <a:endParaRPr lang="en-US" sz="1600" dirty="0"/>
          </a:p>
        </p:txBody>
      </p:sp>
      <p:sp>
        <p:nvSpPr>
          <p:cNvPr id="10" name="Shape 8"/>
          <p:cNvSpPr/>
          <p:nvPr/>
        </p:nvSpPr>
        <p:spPr>
          <a:xfrm>
            <a:off x="7170024" y="1595757"/>
            <a:ext cx="4206002" cy="3011170"/>
          </a:xfrm>
          <a:prstGeom prst="roundRect">
            <a:avLst>
              <a:gd name="adj" fmla="val 3269"/>
            </a:avLst>
          </a:prstGeom>
          <a:solidFill>
            <a:srgbClr val="FDFCF9"/>
          </a:solidFill>
          <a:ln w="6350">
            <a:solidFill>
              <a:srgbClr val="DAD8D0"/>
            </a:solidFill>
            <a:prstDash val="solid"/>
          </a:ln>
        </p:spPr>
      </p:sp>
      <p:sp>
        <p:nvSpPr>
          <p:cNvPr id="11" name="Text 9"/>
          <p:cNvSpPr/>
          <p:nvPr/>
        </p:nvSpPr>
        <p:spPr>
          <a:xfrm>
            <a:off x="7425928" y="1851661"/>
            <a:ext cx="3805018" cy="6959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4213D"/>
                </a:solidFill>
                <a:latin typeface="IBM Plex Sans" pitchFamily="34" charset="0"/>
                <a:ea typeface="IBM Plex Sans" pitchFamily="34" charset="-122"/>
                <a:cs typeface="IBM Plex Sans" pitchFamily="34" charset="-120"/>
              </a:rPr>
              <a:t>Matches our hand calculation</a:t>
            </a:r>
            <a:endParaRPr lang="en-US" sz="2200" dirty="0"/>
          </a:p>
        </p:txBody>
      </p:sp>
      <p:sp>
        <p:nvSpPr>
          <p:cNvPr id="12" name="Text 10"/>
          <p:cNvSpPr/>
          <p:nvPr/>
        </p:nvSpPr>
        <p:spPr>
          <a:xfrm>
            <a:off x="7425928" y="2623821"/>
            <a:ext cx="3805018"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F5FBF"/>
                </a:solidFill>
                <a:latin typeface="JetBrains Mono" pitchFamily="49" charset="0"/>
                <a:ea typeface="JetBrains Mono" pitchFamily="49" charset="-122"/>
                <a:cs typeface="JetBrains Mono" pitchFamily="49" charset="-120"/>
              </a:rPr>
              <a:t>|V| = 9</a:t>
            </a:r>
            <a:endParaRPr lang="en-US" sz="1600" dirty="0"/>
          </a:p>
        </p:txBody>
      </p:sp>
      <p:sp>
        <p:nvSpPr>
          <p:cNvPr id="13" name="Text 11"/>
          <p:cNvSpPr/>
          <p:nvPr/>
        </p:nvSpPr>
        <p:spPr>
          <a:xfrm>
            <a:off x="7425928" y="3009900"/>
            <a:ext cx="3805018"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F5FBF"/>
                </a:solidFill>
                <a:latin typeface="JetBrains Mono" pitchFamily="49" charset="0"/>
                <a:ea typeface="JetBrains Mono" pitchFamily="49" charset="-122"/>
                <a:cs typeface="JetBrains Mono" pitchFamily="49" charset="-120"/>
              </a:rPr>
              <a:t>P(pretty|−) = 2/17</a:t>
            </a:r>
            <a:endParaRPr lang="en-US" sz="1600" dirty="0"/>
          </a:p>
        </p:txBody>
      </p:sp>
      <p:sp>
        <p:nvSpPr>
          <p:cNvPr id="14" name="Text 12"/>
          <p:cNvSpPr/>
          <p:nvPr/>
        </p:nvSpPr>
        <p:spPr>
          <a:xfrm>
            <a:off x="7425928" y="3395982"/>
            <a:ext cx="3805018"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F5FBF"/>
                </a:solidFill>
                <a:latin typeface="JetBrains Mono" pitchFamily="49" charset="0"/>
                <a:ea typeface="JetBrains Mono" pitchFamily="49" charset="-122"/>
                <a:cs typeface="JetBrains Mono" pitchFamily="49" charset="-120"/>
              </a:rPr>
              <a:t>P(plot|+) = 1/12</a:t>
            </a:r>
            <a:endParaRPr lang="en-US" sz="1600" dirty="0"/>
          </a:p>
        </p:txBody>
      </p:sp>
      <p:sp>
        <p:nvSpPr>
          <p:cNvPr id="15" name="Text 13"/>
          <p:cNvSpPr/>
          <p:nvPr/>
        </p:nvSpPr>
        <p:spPr>
          <a:xfrm>
            <a:off x="7425928" y="3782061"/>
            <a:ext cx="3805018" cy="5943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5568"/>
                </a:solidFill>
                <a:latin typeface="IBM Plex Sans" pitchFamily="34" charset="0"/>
                <a:ea typeface="IBM Plex Sans" pitchFamily="34" charset="-122"/>
                <a:cs typeface="IBM Plex Sans" pitchFamily="34" charset="-120"/>
              </a:rPr>
              <a:t>Same code, same answer: “pretty enjoyable plot” is negative.</a:t>
            </a:r>
            <a:endParaRPr lang="en-US" sz="1600" dirty="0"/>
          </a:p>
        </p:txBody>
      </p:sp>
      <p:sp>
        <p:nvSpPr>
          <p:cNvPr id="16" name="Text 14"/>
          <p:cNvSpPr/>
          <p:nvPr/>
        </p:nvSpPr>
        <p:spPr>
          <a:xfrm>
            <a:off x="812800" y="6238239"/>
            <a:ext cx="65405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270"/>
                </a:solidFill>
                <a:latin typeface="IBM Plex Sans" pitchFamily="34" charset="0"/>
                <a:ea typeface="IBM Plex Sans" pitchFamily="34" charset="-122"/>
                <a:cs typeface="IBM Plex Sans" pitchFamily="34" charset="-120"/>
              </a:rPr>
              <a:t>SpamShield · Team 1 · spamshield/nb.py</a:t>
            </a:r>
            <a:endParaRPr lang="en-US" sz="1200" dirty="0"/>
          </a:p>
        </p:txBody>
      </p:sp>
      <p:sp>
        <p:nvSpPr>
          <p:cNvPr id="17" name="Text 15"/>
          <p:cNvSpPr/>
          <p:nvPr/>
        </p:nvSpPr>
        <p:spPr>
          <a:xfrm>
            <a:off x="10058400" y="6238239"/>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A6270"/>
                </a:solidFill>
                <a:latin typeface="IBM Plex Sans" pitchFamily="34" charset="0"/>
                <a:ea typeface="IBM Plex Sans" pitchFamily="34" charset="-122"/>
                <a:cs typeface="IBM Plex Sans" pitchFamily="34" charset="-120"/>
              </a:rPr>
              <a:t>5 / 10</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4213D"/>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F2B84B"/>
                </a:solidFill>
                <a:latin typeface="IBM Plex Sans" pitchFamily="34" charset="0"/>
                <a:ea typeface="IBM Plex Sans" pitchFamily="34" charset="-122"/>
                <a:cs typeface="IBM Plex Sans" pitchFamily="34" charset="-120"/>
              </a:rPr>
              <a:t>LIVE DEMO</a:t>
            </a:r>
            <a:endParaRPr lang="en-US" sz="1200" dirty="0"/>
          </a:p>
        </p:txBody>
      </p:sp>
      <p:sp>
        <p:nvSpPr>
          <p:cNvPr id="3" name="Text 1"/>
          <p:cNvSpPr/>
          <p:nvPr>
            <p:ph type="title"/>
          </p:nvPr>
        </p:nvSpPr>
        <p:spPr>
          <a:xfrm>
            <a:off x="812800" y="1280161"/>
            <a:ext cx="10883392" cy="1076960"/>
          </a:xfrm>
          <a:prstGeom prst="rect">
            <a:avLst/>
          </a:prstGeom>
          <a:noFill/>
          <a:ln/>
        </p:spPr>
        <p:txBody>
          <a:bodyPr wrap="square" lIns="0" tIns="0" rIns="0" bIns="0" rtlCol="0" anchor="t">
            <a:normAutofit/>
          </a:bodyPr>
          <a:lstStyle/>
          <a:p>
            <a:pPr algn="l" indent="0" marL="0">
              <a:lnSpc>
                <a:spcPts val="4140"/>
              </a:lnSpc>
              <a:buNone/>
            </a:pPr>
            <a:r>
              <a:rPr lang="en-US" sz="3600" b="1" i="0" dirty="0">
                <a:solidFill>
                  <a:srgbClr val="F7F6F2"/>
                </a:solidFill>
                <a:latin typeface="IBM Plex Sans" pitchFamily="34" charset="0"/>
                <a:ea typeface="IBM Plex Sans" pitchFamily="34" charset="-122"/>
                <a:cs typeface="IBM Plex Sans" pitchFamily="34" charset="-120"/>
              </a:rPr>
              <a:t>Paste a message, see the verdict and the words behind it</a:t>
            </a:r>
            <a:endParaRPr lang="en-US" sz="3600" dirty="0"/>
          </a:p>
        </p:txBody>
      </p:sp>
      <p:sp>
        <p:nvSpPr>
          <p:cNvPr id="4" name="Shape 2"/>
          <p:cNvSpPr/>
          <p:nvPr/>
        </p:nvSpPr>
        <p:spPr>
          <a:xfrm>
            <a:off x="812800" y="2585721"/>
            <a:ext cx="3386614" cy="2875280"/>
          </a:xfrm>
          <a:prstGeom prst="roundRect">
            <a:avLst>
              <a:gd name="adj" fmla="val 3534"/>
            </a:avLst>
          </a:prstGeom>
          <a:solidFill>
            <a:srgbClr val="1F3157"/>
          </a:solidFill>
          <a:ln/>
        </p:spPr>
      </p:sp>
      <p:sp>
        <p:nvSpPr>
          <p:cNvPr id="5" name="Text 3"/>
          <p:cNvSpPr/>
          <p:nvPr/>
        </p:nvSpPr>
        <p:spPr>
          <a:xfrm>
            <a:off x="1066800" y="2839721"/>
            <a:ext cx="2964972" cy="36068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F7F6F2"/>
                </a:solidFill>
                <a:latin typeface="IBM Plex Sans" pitchFamily="34" charset="0"/>
                <a:ea typeface="IBM Plex Sans" pitchFamily="34" charset="-122"/>
                <a:cs typeface="IBM Plex Sans" pitchFamily="34" charset="-120"/>
              </a:rPr>
              <a:t>A scam in disguise</a:t>
            </a:r>
            <a:endParaRPr lang="en-US" sz="2200" dirty="0"/>
          </a:p>
        </p:txBody>
      </p:sp>
      <p:sp>
        <p:nvSpPr>
          <p:cNvPr id="6" name="Text 4"/>
          <p:cNvSpPr/>
          <p:nvPr/>
        </p:nvSpPr>
        <p:spPr>
          <a:xfrm>
            <a:off x="1066800" y="3276600"/>
            <a:ext cx="2964972"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2B84B"/>
                </a:solidFill>
                <a:latin typeface="JetBrains Mono" pitchFamily="49" charset="0"/>
                <a:ea typeface="JetBrains Mono" pitchFamily="49" charset="-122"/>
                <a:cs typeface="JetBrains Mono" pitchFamily="49" charset="-120"/>
              </a:rPr>
              <a:t>FR33 PR1ZE! Cl41m your 5 gift card now</a:t>
            </a:r>
            <a:endParaRPr lang="en-US" sz="1200" dirty="0"/>
          </a:p>
        </p:txBody>
      </p:sp>
      <p:sp>
        <p:nvSpPr>
          <p:cNvPr id="7" name="Text 5"/>
          <p:cNvSpPr/>
          <p:nvPr/>
        </p:nvSpPr>
        <p:spPr>
          <a:xfrm>
            <a:off x="1066800" y="3804921"/>
            <a:ext cx="2964972" cy="5943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C9D3E6"/>
                </a:solidFill>
                <a:latin typeface="IBM Plex Sans" pitchFamily="34" charset="0"/>
                <a:ea typeface="IBM Plex Sans" pitchFamily="34" charset="-122"/>
                <a:cs typeface="IBM Plex Sans" pitchFamily="34" charset="-120"/>
              </a:rPr>
              <a:t>Blocked, P(spam) = 1.00. Driven by claim, prize and free.</a:t>
            </a:r>
            <a:endParaRPr lang="en-US" sz="1600" dirty="0"/>
          </a:p>
        </p:txBody>
      </p:sp>
      <p:sp>
        <p:nvSpPr>
          <p:cNvPr id="8" name="Shape 6"/>
          <p:cNvSpPr/>
          <p:nvPr/>
        </p:nvSpPr>
        <p:spPr>
          <a:xfrm>
            <a:off x="4402614" y="2585721"/>
            <a:ext cx="3386693" cy="2875280"/>
          </a:xfrm>
          <a:prstGeom prst="roundRect">
            <a:avLst>
              <a:gd name="adj" fmla="val 3534"/>
            </a:avLst>
          </a:prstGeom>
          <a:solidFill>
            <a:srgbClr val="1F3157"/>
          </a:solidFill>
          <a:ln/>
        </p:spPr>
      </p:sp>
      <p:sp>
        <p:nvSpPr>
          <p:cNvPr id="9" name="Text 7"/>
          <p:cNvSpPr/>
          <p:nvPr/>
        </p:nvSpPr>
        <p:spPr>
          <a:xfrm>
            <a:off x="4656614" y="2839721"/>
            <a:ext cx="2965054" cy="6959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F7F6F2"/>
                </a:solidFill>
                <a:latin typeface="IBM Plex Sans" pitchFamily="34" charset="0"/>
                <a:ea typeface="IBM Plex Sans" pitchFamily="34" charset="-122"/>
                <a:cs typeface="IBM Plex Sans" pitchFamily="34" charset="-120"/>
              </a:rPr>
              <a:t>A message from family</a:t>
            </a:r>
            <a:endParaRPr lang="en-US" sz="2200" dirty="0"/>
          </a:p>
        </p:txBody>
      </p:sp>
      <p:sp>
        <p:nvSpPr>
          <p:cNvPr id="10" name="Text 8"/>
          <p:cNvSpPr/>
          <p:nvPr/>
        </p:nvSpPr>
        <p:spPr>
          <a:xfrm>
            <a:off x="4656614" y="3611882"/>
            <a:ext cx="2965054"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2B84B"/>
                </a:solidFill>
                <a:latin typeface="JetBrains Mono" pitchFamily="49" charset="0"/>
                <a:ea typeface="JetBrains Mono" pitchFamily="49" charset="-122"/>
                <a:cs typeface="JetBrains Mono" pitchFamily="49" charset="-120"/>
              </a:rPr>
              <a:t>Hey, running 10 min late. Can you tell mom I’ll call her after dinner?</a:t>
            </a:r>
            <a:endParaRPr lang="en-US" sz="1200" dirty="0"/>
          </a:p>
        </p:txBody>
      </p:sp>
      <p:sp>
        <p:nvSpPr>
          <p:cNvPr id="11" name="Text 9"/>
          <p:cNvSpPr/>
          <p:nvPr/>
        </p:nvSpPr>
        <p:spPr>
          <a:xfrm>
            <a:off x="4656614" y="4353561"/>
            <a:ext cx="2965054" cy="87884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C9D3E6"/>
                </a:solidFill>
                <a:latin typeface="IBM Plex Sans" pitchFamily="34" charset="0"/>
                <a:ea typeface="IBM Plex Sans" pitchFamily="34" charset="-122"/>
                <a:cs typeface="IBM Plex Sans" pitchFamily="34" charset="-120"/>
              </a:rPr>
              <a:t>Delivered, P(spam) = 0.00. Dinner and late push it toward real mail.</a:t>
            </a:r>
            <a:endParaRPr lang="en-US" sz="1600" dirty="0"/>
          </a:p>
        </p:txBody>
      </p:sp>
      <p:sp>
        <p:nvSpPr>
          <p:cNvPr id="12" name="Shape 10"/>
          <p:cNvSpPr/>
          <p:nvPr/>
        </p:nvSpPr>
        <p:spPr>
          <a:xfrm>
            <a:off x="7992507" y="2585721"/>
            <a:ext cx="3386693" cy="2875280"/>
          </a:xfrm>
          <a:prstGeom prst="roundRect">
            <a:avLst>
              <a:gd name="adj" fmla="val 3534"/>
            </a:avLst>
          </a:prstGeom>
          <a:solidFill>
            <a:srgbClr val="1F3157"/>
          </a:solidFill>
          <a:ln/>
        </p:spPr>
      </p:sp>
      <p:sp>
        <p:nvSpPr>
          <p:cNvPr id="13" name="Text 11"/>
          <p:cNvSpPr/>
          <p:nvPr/>
        </p:nvSpPr>
        <p:spPr>
          <a:xfrm>
            <a:off x="8246507" y="2839721"/>
            <a:ext cx="2965054" cy="36068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F7F6F2"/>
                </a:solidFill>
                <a:latin typeface="IBM Plex Sans" pitchFamily="34" charset="0"/>
                <a:ea typeface="IBM Plex Sans" pitchFamily="34" charset="-122"/>
                <a:cs typeface="IBM Plex Sans" pitchFamily="34" charset="-120"/>
              </a:rPr>
              <a:t>The threshold slider</a:t>
            </a:r>
            <a:endParaRPr lang="en-US" sz="2200" dirty="0"/>
          </a:p>
        </p:txBody>
      </p:sp>
      <p:sp>
        <p:nvSpPr>
          <p:cNvPr id="14" name="Text 12"/>
          <p:cNvSpPr/>
          <p:nvPr/>
        </p:nvSpPr>
        <p:spPr>
          <a:xfrm>
            <a:off x="8246507" y="3276600"/>
            <a:ext cx="296505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2B84B"/>
                </a:solidFill>
                <a:latin typeface="JetBrains Mono" pitchFamily="49" charset="0"/>
                <a:ea typeface="JetBrains Mono" pitchFamily="49" charset="-122"/>
                <a:cs typeface="JetBrains Mono" pitchFamily="49" charset="-120"/>
              </a:rPr>
              <a:t>Spam threshold: 0.50</a:t>
            </a:r>
            <a:endParaRPr lang="en-US" sz="1200" dirty="0"/>
          </a:p>
        </p:txBody>
      </p:sp>
      <p:sp>
        <p:nvSpPr>
          <p:cNvPr id="15" name="Text 13"/>
          <p:cNvSpPr/>
          <p:nvPr/>
        </p:nvSpPr>
        <p:spPr>
          <a:xfrm>
            <a:off x="8246507" y="3591561"/>
            <a:ext cx="2965054" cy="87884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C9D3E6"/>
                </a:solidFill>
                <a:latin typeface="IBM Plex Sans" pitchFamily="34" charset="0"/>
                <a:ea typeface="IBM Plex Sans" pitchFamily="34" charset="-122"/>
                <a:cs typeface="IBM Plex Sans" pitchFamily="34" charset="-120"/>
              </a:rPr>
              <a:t>Raise it to block less: fewer false positives, more missed spam.</a:t>
            </a:r>
            <a:endParaRPr lang="en-US" sz="1600" dirty="0"/>
          </a:p>
        </p:txBody>
      </p:sp>
      <p:sp>
        <p:nvSpPr>
          <p:cNvPr id="16" name="Text 14"/>
          <p:cNvSpPr/>
          <p:nvPr/>
        </p:nvSpPr>
        <p:spPr>
          <a:xfrm>
            <a:off x="812800" y="6238239"/>
            <a:ext cx="65405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EB9CF"/>
                </a:solidFill>
                <a:latin typeface="IBM Plex Sans" pitchFamily="34" charset="0"/>
                <a:ea typeface="IBM Plex Sans" pitchFamily="34" charset="-122"/>
                <a:cs typeface="IBM Plex Sans" pitchFamily="34" charset="-120"/>
              </a:rPr>
              <a:t>SpamShield · Team 1 · runs offline, no external services</a:t>
            </a:r>
            <a:endParaRPr lang="en-US" sz="1200" dirty="0"/>
          </a:p>
        </p:txBody>
      </p:sp>
      <p:sp>
        <p:nvSpPr>
          <p:cNvPr id="17" name="Text 15"/>
          <p:cNvSpPr/>
          <p:nvPr/>
        </p:nvSpPr>
        <p:spPr>
          <a:xfrm>
            <a:off x="10058400" y="6238239"/>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AEB9CF"/>
                </a:solidFill>
                <a:latin typeface="IBM Plex Sans" pitchFamily="34" charset="0"/>
                <a:ea typeface="IBM Plex Sans" pitchFamily="34" charset="-122"/>
                <a:cs typeface="IBM Plex Sans" pitchFamily="34" charset="-120"/>
              </a:rPr>
              <a:t>6 / 10</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6F2"/>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51180"/>
          </a:xfrm>
          <a:prstGeom prst="rect">
            <a:avLst/>
          </a:prstGeom>
          <a:noFill/>
          <a:ln/>
        </p:spPr>
        <p:txBody>
          <a:bodyPr wrap="square" lIns="0" tIns="0" rIns="0" bIns="0" rtlCol="0" anchor="t">
            <a:normAutofit/>
          </a:bodyPr>
          <a:lstStyle/>
          <a:p>
            <a:pPr algn="l" indent="0" marL="0">
              <a:lnSpc>
                <a:spcPts val="4140"/>
              </a:lnSpc>
              <a:buNone/>
            </a:pPr>
            <a:r>
              <a:rPr lang="en-US" sz="3600" b="1" i="0" dirty="0">
                <a:solidFill>
                  <a:srgbClr val="14213D"/>
                </a:solidFill>
                <a:latin typeface="IBM Plex Sans" pitchFamily="34" charset="0"/>
                <a:ea typeface="IBM Plex Sans" pitchFamily="34" charset="-122"/>
                <a:cs typeface="IBM Plex Sans" pitchFamily="34" charset="-120"/>
              </a:rPr>
              <a:t>Results on the held-out test set</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22960" y="1602742"/>
          <a:ext cx="10556240" cy="2621280"/>
        </p:xfrm>
        <a:graphic>
          <a:graphicData uri="http://schemas.openxmlformats.org/drawingml/2006/table">
            <a:tbl>
              <a:tblPr/>
              <a:tblGrid>
                <a:gridCol w="3800246"/>
                <a:gridCol w="1688998"/>
                <a:gridCol w="1688998"/>
                <a:gridCol w="1688998"/>
                <a:gridCol w="1688998"/>
              </a:tblGrid>
              <a:tr h="436880">
                <a:tc>
                  <a:txBody>
                    <a:bodyPr/>
                    <a:lstStyle/>
                    <a:p>
                      <a:pPr indent="0" marL="0">
                        <a:lnSpc>
                          <a:spcPts val="2240"/>
                        </a:lnSpc>
                        <a:buNone/>
                      </a:pPr>
                      <a:r>
                        <a:rPr lang="en-US" sz="1600" b="1" dirty="0">
                          <a:solidFill>
                            <a:srgbClr val="F7F6F2"/>
                          </a:solidFill>
                          <a:latin typeface="IBM Plex Sans" pitchFamily="34" charset="0"/>
                          <a:ea typeface="IBM Plex Sans" pitchFamily="34" charset="-122"/>
                          <a:cs typeface="IBM Plex Sans" pitchFamily="34" charset="-120"/>
                        </a:rPr>
                        <a:t>Model</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5C4C1"/>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algn="r" indent="0" marL="0">
                        <a:lnSpc>
                          <a:spcPts val="2240"/>
                        </a:lnSpc>
                        <a:buNone/>
                      </a:pPr>
                      <a:r>
                        <a:rPr lang="en-US" sz="1600" b="1" dirty="0">
                          <a:solidFill>
                            <a:srgbClr val="F7F6F2"/>
                          </a:solidFill>
                          <a:latin typeface="IBM Plex Sans" pitchFamily="34" charset="0"/>
                          <a:ea typeface="IBM Plex Sans" pitchFamily="34" charset="-122"/>
                          <a:cs typeface="IBM Plex Sans" pitchFamily="34" charset="-120"/>
                        </a:rPr>
                        <a:t>Precision</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algn="r" indent="0" marL="0">
                        <a:lnSpc>
                          <a:spcPts val="2240"/>
                        </a:lnSpc>
                        <a:buNone/>
                      </a:pPr>
                      <a:r>
                        <a:rPr lang="en-US" sz="1600" b="1" dirty="0">
                          <a:solidFill>
                            <a:srgbClr val="F7F6F2"/>
                          </a:solidFill>
                          <a:latin typeface="IBM Plex Sans" pitchFamily="34" charset="0"/>
                          <a:ea typeface="IBM Plex Sans" pitchFamily="34" charset="-122"/>
                          <a:cs typeface="IBM Plex Sans" pitchFamily="34" charset="-120"/>
                        </a:rPr>
                        <a:t>Recall</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algn="r" indent="0" marL="0">
                        <a:lnSpc>
                          <a:spcPts val="2240"/>
                        </a:lnSpc>
                        <a:buNone/>
                      </a:pPr>
                      <a:r>
                        <a:rPr lang="en-US" sz="1600" b="1" dirty="0">
                          <a:solidFill>
                            <a:srgbClr val="F7F6F2"/>
                          </a:solidFill>
                          <a:latin typeface="IBM Plex Sans" pitchFamily="34" charset="0"/>
                          <a:ea typeface="IBM Plex Sans" pitchFamily="34" charset="-122"/>
                          <a:cs typeface="IBM Plex Sans" pitchFamily="34" charset="-120"/>
                        </a:rPr>
                        <a:t>F1</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algn="r" indent="0" marL="0">
                        <a:lnSpc>
                          <a:spcPts val="2240"/>
                        </a:lnSpc>
                        <a:buNone/>
                      </a:pPr>
                      <a:r>
                        <a:rPr lang="en-US" sz="1600" b="1" dirty="0">
                          <a:solidFill>
                            <a:srgbClr val="F7F6F2"/>
                          </a:solidFill>
                          <a:latin typeface="IBM Plex Sans" pitchFamily="34" charset="0"/>
                          <a:ea typeface="IBM Plex Sans" pitchFamily="34" charset="-122"/>
                          <a:cs typeface="IBM Plex Sans" pitchFamily="34" charset="-120"/>
                        </a:rPr>
                        <a:t>FP rate</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r>
              <a:tr h="436880">
                <a:tc>
                  <a:txBody>
                    <a:bodyPr/>
                    <a:lstStyle/>
                    <a:p>
                      <a:pPr indent="0" marL="0">
                        <a:lnSpc>
                          <a:spcPts val="2240"/>
                        </a:lnSpc>
                        <a:buNone/>
                      </a:pPr>
                      <a:r>
                        <a:rPr lang="en-US" sz="1600" dirty="0">
                          <a:solidFill>
                            <a:srgbClr val="14213D"/>
                          </a:solidFill>
                          <a:latin typeface="IBM Plex Sans" pitchFamily="34" charset="0"/>
                          <a:ea typeface="IBM Plex Sans" pitchFamily="34" charset="-122"/>
                          <a:cs typeface="IBM Plex Sans" pitchFamily="34" charset="-120"/>
                        </a:rPr>
                        <a:t>Naive Bayes (scratch), 0.5</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algn="r" indent="0" marL="0">
                        <a:lnSpc>
                          <a:spcPts val="2240"/>
                        </a:lnSpc>
                        <a:buNone/>
                      </a:pPr>
                      <a:r>
                        <a:rPr lang="en-US" sz="1600" dirty="0">
                          <a:solidFill>
                            <a:srgbClr val="14213D"/>
                          </a:solidFill>
                          <a:latin typeface="IBM Plex Sans" pitchFamily="34" charset="0"/>
                          <a:ea typeface="IBM Plex Sans" pitchFamily="34" charset="-122"/>
                          <a:cs typeface="IBM Plex Sans" pitchFamily="34" charset="-120"/>
                        </a:rPr>
                        <a:t>0.944</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algn="r" indent="0" marL="0">
                        <a:lnSpc>
                          <a:spcPts val="2240"/>
                        </a:lnSpc>
                        <a:buNone/>
                      </a:pPr>
                      <a:r>
                        <a:rPr lang="en-US" sz="1600" dirty="0">
                          <a:solidFill>
                            <a:srgbClr val="14213D"/>
                          </a:solidFill>
                          <a:latin typeface="IBM Plex Sans" pitchFamily="34" charset="0"/>
                          <a:ea typeface="IBM Plex Sans" pitchFamily="34" charset="-122"/>
                          <a:cs typeface="IBM Plex Sans" pitchFamily="34" charset="-120"/>
                        </a:rPr>
                        <a:t>0.885</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algn="r" indent="0" marL="0">
                        <a:lnSpc>
                          <a:spcPts val="2240"/>
                        </a:lnSpc>
                        <a:buNone/>
                      </a:pPr>
                      <a:r>
                        <a:rPr lang="en-US" sz="1600" dirty="0">
                          <a:solidFill>
                            <a:srgbClr val="14213D"/>
                          </a:solidFill>
                          <a:latin typeface="IBM Plex Sans" pitchFamily="34" charset="0"/>
                          <a:ea typeface="IBM Plex Sans" pitchFamily="34" charset="-122"/>
                          <a:cs typeface="IBM Plex Sans" pitchFamily="34" charset="-120"/>
                        </a:rPr>
                        <a:t>0.914</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algn="r" indent="0" marL="0">
                        <a:lnSpc>
                          <a:spcPts val="2240"/>
                        </a:lnSpc>
                        <a:buNone/>
                      </a:pPr>
                      <a:r>
                        <a:rPr lang="en-US" sz="1600" dirty="0">
                          <a:solidFill>
                            <a:srgbClr val="14213D"/>
                          </a:solidFill>
                          <a:latin typeface="IBM Plex Sans" pitchFamily="34" charset="0"/>
                          <a:ea typeface="IBM Plex Sans" pitchFamily="34" charset="-122"/>
                          <a:cs typeface="IBM Plex Sans" pitchFamily="34" charset="-120"/>
                        </a:rPr>
                        <a:t>0.74%</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r>
              <a:tr h="436880">
                <a:tc>
                  <a:txBody>
                    <a:bodyPr/>
                    <a:lstStyle/>
                    <a:p>
                      <a:pPr indent="0" marL="0">
                        <a:lnSpc>
                          <a:spcPts val="2240"/>
                        </a:lnSpc>
                        <a:buNone/>
                      </a:pPr>
                      <a:r>
                        <a:rPr lang="en-US" sz="1600" dirty="0">
                          <a:solidFill>
                            <a:srgbClr val="14213D"/>
                          </a:solidFill>
                          <a:latin typeface="IBM Plex Sans" pitchFamily="34" charset="0"/>
                          <a:ea typeface="IBM Plex Sans" pitchFamily="34" charset="-122"/>
                          <a:cs typeface="IBM Plex Sans" pitchFamily="34" charset="-120"/>
                        </a:rPr>
                        <a:t>Naive Bayes (scratch), tuned</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algn="r" indent="0" marL="0">
                        <a:lnSpc>
                          <a:spcPts val="2240"/>
                        </a:lnSpc>
                        <a:buNone/>
                      </a:pPr>
                      <a:r>
                        <a:rPr lang="en-US" sz="1600" dirty="0">
                          <a:solidFill>
                            <a:srgbClr val="14213D"/>
                          </a:solidFill>
                          <a:latin typeface="IBM Plex Sans" pitchFamily="34" charset="0"/>
                          <a:ea typeface="IBM Plex Sans" pitchFamily="34" charset="-122"/>
                          <a:cs typeface="IBM Plex Sans" pitchFamily="34" charset="-120"/>
                        </a:rPr>
                        <a:t>0.924</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algn="r" indent="0" marL="0">
                        <a:lnSpc>
                          <a:spcPts val="2240"/>
                        </a:lnSpc>
                        <a:buNone/>
                      </a:pPr>
                      <a:r>
                        <a:rPr lang="en-US" sz="1600" dirty="0">
                          <a:solidFill>
                            <a:srgbClr val="14213D"/>
                          </a:solidFill>
                          <a:latin typeface="IBM Plex Sans" pitchFamily="34" charset="0"/>
                          <a:ea typeface="IBM Plex Sans" pitchFamily="34" charset="-122"/>
                          <a:cs typeface="IBM Plex Sans" pitchFamily="34" charset="-120"/>
                        </a:rPr>
                        <a:t>0.885</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algn="r" indent="0" marL="0">
                        <a:lnSpc>
                          <a:spcPts val="2240"/>
                        </a:lnSpc>
                        <a:buNone/>
                      </a:pPr>
                      <a:r>
                        <a:rPr lang="en-US" sz="1600" dirty="0">
                          <a:solidFill>
                            <a:srgbClr val="14213D"/>
                          </a:solidFill>
                          <a:latin typeface="IBM Plex Sans" pitchFamily="34" charset="0"/>
                          <a:ea typeface="IBM Plex Sans" pitchFamily="34" charset="-122"/>
                          <a:cs typeface="IBM Plex Sans" pitchFamily="34" charset="-120"/>
                        </a:rPr>
                        <a:t>0.904</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algn="r" indent="0" marL="0">
                        <a:lnSpc>
                          <a:spcPts val="2240"/>
                        </a:lnSpc>
                        <a:buNone/>
                      </a:pPr>
                      <a:r>
                        <a:rPr lang="en-US" sz="1600" dirty="0">
                          <a:solidFill>
                            <a:srgbClr val="14213D"/>
                          </a:solidFill>
                          <a:latin typeface="IBM Plex Sans" pitchFamily="34" charset="0"/>
                          <a:ea typeface="IBM Plex Sans" pitchFamily="34" charset="-122"/>
                          <a:cs typeface="IBM Plex Sans" pitchFamily="34" charset="-120"/>
                        </a:rPr>
                        <a:t>1.03%</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r>
              <a:tr h="436880">
                <a:tc>
                  <a:txBody>
                    <a:bodyPr/>
                    <a:lstStyle/>
                    <a:p>
                      <a:pPr indent="0" marL="0">
                        <a:lnSpc>
                          <a:spcPts val="2240"/>
                        </a:lnSpc>
                        <a:buNone/>
                      </a:pPr>
                      <a:r>
                        <a:rPr lang="en-US" sz="1600" dirty="0">
                          <a:solidFill>
                            <a:srgbClr val="14213D"/>
                          </a:solidFill>
                          <a:latin typeface="IBM Plex Sans" pitchFamily="34" charset="0"/>
                          <a:ea typeface="IBM Plex Sans" pitchFamily="34" charset="-122"/>
                          <a:cs typeface="IBM Plex Sans" pitchFamily="34" charset="-120"/>
                        </a:rPr>
                        <a:t>sklearn Naive Bayes, TF-IDF</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algn="r" indent="0" marL="0">
                        <a:lnSpc>
                          <a:spcPts val="2240"/>
                        </a:lnSpc>
                        <a:buNone/>
                      </a:pPr>
                      <a:r>
                        <a:rPr lang="en-US" sz="1600" dirty="0">
                          <a:solidFill>
                            <a:srgbClr val="14213D"/>
                          </a:solidFill>
                          <a:latin typeface="IBM Plex Sans" pitchFamily="34" charset="0"/>
                          <a:ea typeface="IBM Plex Sans" pitchFamily="34" charset="-122"/>
                          <a:cs typeface="IBM Plex Sans" pitchFamily="34" charset="-120"/>
                        </a:rPr>
                        <a:t>1.000</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algn="r" indent="0" marL="0">
                        <a:lnSpc>
                          <a:spcPts val="2240"/>
                        </a:lnSpc>
                        <a:buNone/>
                      </a:pPr>
                      <a:r>
                        <a:rPr lang="en-US" sz="1600" dirty="0">
                          <a:solidFill>
                            <a:srgbClr val="14213D"/>
                          </a:solidFill>
                          <a:latin typeface="IBM Plex Sans" pitchFamily="34" charset="0"/>
                          <a:ea typeface="IBM Plex Sans" pitchFamily="34" charset="-122"/>
                          <a:cs typeface="IBM Plex Sans" pitchFamily="34" charset="-120"/>
                        </a:rPr>
                        <a:t>0.698</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algn="r" indent="0" marL="0">
                        <a:lnSpc>
                          <a:spcPts val="2240"/>
                        </a:lnSpc>
                        <a:buNone/>
                      </a:pPr>
                      <a:r>
                        <a:rPr lang="en-US" sz="1600" dirty="0">
                          <a:solidFill>
                            <a:srgbClr val="14213D"/>
                          </a:solidFill>
                          <a:latin typeface="IBM Plex Sans" pitchFamily="34" charset="0"/>
                          <a:ea typeface="IBM Plex Sans" pitchFamily="34" charset="-122"/>
                          <a:cs typeface="IBM Plex Sans" pitchFamily="34" charset="-120"/>
                        </a:rPr>
                        <a:t>0.822</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algn="r" indent="0" marL="0">
                        <a:lnSpc>
                          <a:spcPts val="2240"/>
                        </a:lnSpc>
                        <a:buNone/>
                      </a:pPr>
                      <a:r>
                        <a:rPr lang="en-US" sz="1600" dirty="0">
                          <a:solidFill>
                            <a:srgbClr val="14213D"/>
                          </a:solidFill>
                          <a:latin typeface="IBM Plex Sans" pitchFamily="34" charset="0"/>
                          <a:ea typeface="IBM Plex Sans" pitchFamily="34" charset="-122"/>
                          <a:cs typeface="IBM Plex Sans" pitchFamily="34" charset="-120"/>
                        </a:rPr>
                        <a:t>0.00%</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r>
              <a:tr h="436880">
                <a:tc>
                  <a:txBody>
                    <a:bodyPr/>
                    <a:lstStyle/>
                    <a:p>
                      <a:pPr indent="0" marL="0">
                        <a:lnSpc>
                          <a:spcPts val="2240"/>
                        </a:lnSpc>
                        <a:buNone/>
                      </a:pPr>
                      <a:r>
                        <a:rPr lang="en-US" sz="1600" dirty="0">
                          <a:solidFill>
                            <a:srgbClr val="14213D"/>
                          </a:solidFill>
                          <a:latin typeface="IBM Plex Sans" pitchFamily="34" charset="0"/>
                          <a:ea typeface="IBM Plex Sans" pitchFamily="34" charset="-122"/>
                          <a:cs typeface="IBM Plex Sans" pitchFamily="34" charset="-120"/>
                        </a:rPr>
                        <a:t>Logistic regression, 0.5</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algn="r" indent="0" marL="0">
                        <a:lnSpc>
                          <a:spcPts val="2240"/>
                        </a:lnSpc>
                        <a:buNone/>
                      </a:pPr>
                      <a:r>
                        <a:rPr lang="en-US" sz="1600" dirty="0">
                          <a:solidFill>
                            <a:srgbClr val="14213D"/>
                          </a:solidFill>
                          <a:latin typeface="IBM Plex Sans" pitchFamily="34" charset="0"/>
                          <a:ea typeface="IBM Plex Sans" pitchFamily="34" charset="-122"/>
                          <a:cs typeface="IBM Plex Sans" pitchFamily="34" charset="-120"/>
                        </a:rPr>
                        <a:t>1.000</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algn="r" indent="0" marL="0">
                        <a:lnSpc>
                          <a:spcPts val="2240"/>
                        </a:lnSpc>
                        <a:buNone/>
                      </a:pPr>
                      <a:r>
                        <a:rPr lang="en-US" sz="1600" dirty="0">
                          <a:solidFill>
                            <a:srgbClr val="14213D"/>
                          </a:solidFill>
                          <a:latin typeface="IBM Plex Sans" pitchFamily="34" charset="0"/>
                          <a:ea typeface="IBM Plex Sans" pitchFamily="34" charset="-122"/>
                          <a:cs typeface="IBM Plex Sans" pitchFamily="34" charset="-120"/>
                        </a:rPr>
                        <a:t>0.875</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algn="r" indent="0" marL="0">
                        <a:lnSpc>
                          <a:spcPts val="2240"/>
                        </a:lnSpc>
                        <a:buNone/>
                      </a:pPr>
                      <a:r>
                        <a:rPr lang="en-US" sz="1600" dirty="0">
                          <a:solidFill>
                            <a:srgbClr val="14213D"/>
                          </a:solidFill>
                          <a:latin typeface="IBM Plex Sans" pitchFamily="34" charset="0"/>
                          <a:ea typeface="IBM Plex Sans" pitchFamily="34" charset="-122"/>
                          <a:cs typeface="IBM Plex Sans" pitchFamily="34" charset="-120"/>
                        </a:rPr>
                        <a:t>0.933</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algn="r" indent="0" marL="0">
                        <a:lnSpc>
                          <a:spcPts val="2240"/>
                        </a:lnSpc>
                        <a:buNone/>
                      </a:pPr>
                      <a:r>
                        <a:rPr lang="en-US" sz="1600" dirty="0">
                          <a:solidFill>
                            <a:srgbClr val="14213D"/>
                          </a:solidFill>
                          <a:latin typeface="IBM Plex Sans" pitchFamily="34" charset="0"/>
                          <a:ea typeface="IBM Plex Sans" pitchFamily="34" charset="-122"/>
                          <a:cs typeface="IBM Plex Sans" pitchFamily="34" charset="-120"/>
                        </a:rPr>
                        <a:t>0.00%</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r>
              <a:tr h="436880">
                <a:tc>
                  <a:txBody>
                    <a:bodyPr/>
                    <a:lstStyle/>
                    <a:p>
                      <a:pPr indent="0" marL="0">
                        <a:lnSpc>
                          <a:spcPts val="2240"/>
                        </a:lnSpc>
                        <a:buNone/>
                      </a:pPr>
                      <a:r>
                        <a:rPr lang="en-US" sz="1600" dirty="0">
                          <a:solidFill>
                            <a:srgbClr val="14213D"/>
                          </a:solidFill>
                          <a:latin typeface="IBM Plex Sans" pitchFamily="34" charset="0"/>
                          <a:ea typeface="IBM Plex Sans" pitchFamily="34" charset="-122"/>
                          <a:cs typeface="IBM Plex Sans" pitchFamily="34" charset="-120"/>
                        </a:rPr>
                        <a:t>Logistic regression, tuned</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5C4C1"/>
                      </a:solidFill>
                      <a:prstDash val="solid"/>
                      <a:round/>
                      <a:headEnd type="none" w="med" len="med"/>
                      <a:tailEnd type="none" w="med" len="med"/>
                    </a:lnL>
                    <a:lnR w="12700" cap="flat" cmpd="sng" algn="ctr">
                      <a:solidFill>
                        <a:srgbClr val="B0B9C7"/>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0B9C7"/>
                      </a:solidFill>
                      <a:prstDash val="solid"/>
                      <a:round/>
                      <a:headEnd type="none" w="med" len="med"/>
                      <a:tailEnd type="none" w="med" len="med"/>
                    </a:lnB>
                    <a:solidFill>
                      <a:srgbClr val="DCE8FA"/>
                    </a:solidFill>
                  </a:tcPr>
                </a:tc>
                <a:tc>
                  <a:txBody>
                    <a:bodyPr/>
                    <a:lstStyle/>
                    <a:p>
                      <a:pPr algn="r" indent="0" marL="0">
                        <a:lnSpc>
                          <a:spcPts val="2240"/>
                        </a:lnSpc>
                        <a:buNone/>
                      </a:pPr>
                      <a:r>
                        <a:rPr lang="en-US" sz="1600" dirty="0">
                          <a:solidFill>
                            <a:srgbClr val="14213D"/>
                          </a:solidFill>
                          <a:latin typeface="IBM Plex Sans" pitchFamily="34" charset="0"/>
                          <a:ea typeface="IBM Plex Sans" pitchFamily="34" charset="-122"/>
                          <a:cs typeface="IBM Plex Sans" pitchFamily="34" charset="-120"/>
                        </a:rPr>
                        <a:t>0.989</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B0B9C7"/>
                      </a:solidFill>
                      <a:prstDash val="solid"/>
                      <a:round/>
                      <a:headEnd type="none" w="med" len="med"/>
                      <a:tailEnd type="none" w="med" len="med"/>
                    </a:lnL>
                    <a:lnR w="12700" cap="flat" cmpd="sng" algn="ctr">
                      <a:solidFill>
                        <a:srgbClr val="B0B9C7"/>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0B9C7"/>
                      </a:solidFill>
                      <a:prstDash val="solid"/>
                      <a:round/>
                      <a:headEnd type="none" w="med" len="med"/>
                      <a:tailEnd type="none" w="med" len="med"/>
                    </a:lnB>
                    <a:solidFill>
                      <a:srgbClr val="DCE8FA"/>
                    </a:solidFill>
                  </a:tcPr>
                </a:tc>
                <a:tc>
                  <a:txBody>
                    <a:bodyPr/>
                    <a:lstStyle/>
                    <a:p>
                      <a:pPr algn="r" indent="0" marL="0">
                        <a:lnSpc>
                          <a:spcPts val="2240"/>
                        </a:lnSpc>
                        <a:buNone/>
                      </a:pPr>
                      <a:r>
                        <a:rPr lang="en-US" sz="1600" dirty="0">
                          <a:solidFill>
                            <a:srgbClr val="14213D"/>
                          </a:solidFill>
                          <a:latin typeface="IBM Plex Sans" pitchFamily="34" charset="0"/>
                          <a:ea typeface="IBM Plex Sans" pitchFamily="34" charset="-122"/>
                          <a:cs typeface="IBM Plex Sans" pitchFamily="34" charset="-120"/>
                        </a:rPr>
                        <a:t>0.938</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B0B9C7"/>
                      </a:solidFill>
                      <a:prstDash val="solid"/>
                      <a:round/>
                      <a:headEnd type="none" w="med" len="med"/>
                      <a:tailEnd type="none" w="med" len="med"/>
                    </a:lnL>
                    <a:lnR w="12700" cap="flat" cmpd="sng" algn="ctr">
                      <a:solidFill>
                        <a:srgbClr val="B0B9C7"/>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0B9C7"/>
                      </a:solidFill>
                      <a:prstDash val="solid"/>
                      <a:round/>
                      <a:headEnd type="none" w="med" len="med"/>
                      <a:tailEnd type="none" w="med" len="med"/>
                    </a:lnB>
                    <a:solidFill>
                      <a:srgbClr val="DCE8FA"/>
                    </a:solidFill>
                  </a:tcPr>
                </a:tc>
                <a:tc>
                  <a:txBody>
                    <a:bodyPr/>
                    <a:lstStyle/>
                    <a:p>
                      <a:pPr algn="r" indent="0" marL="0">
                        <a:lnSpc>
                          <a:spcPts val="2240"/>
                        </a:lnSpc>
                        <a:buNone/>
                      </a:pPr>
                      <a:r>
                        <a:rPr lang="en-US" sz="1600" dirty="0">
                          <a:solidFill>
                            <a:srgbClr val="14213D"/>
                          </a:solidFill>
                          <a:latin typeface="IBM Plex Sans" pitchFamily="34" charset="0"/>
                          <a:ea typeface="IBM Plex Sans" pitchFamily="34" charset="-122"/>
                          <a:cs typeface="IBM Plex Sans" pitchFamily="34" charset="-120"/>
                        </a:rPr>
                        <a:t>0.963</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B0B9C7"/>
                      </a:solidFill>
                      <a:prstDash val="solid"/>
                      <a:round/>
                      <a:headEnd type="none" w="med" len="med"/>
                      <a:tailEnd type="none" w="med" len="med"/>
                    </a:lnL>
                    <a:lnR w="12700" cap="flat" cmpd="sng" algn="ctr">
                      <a:solidFill>
                        <a:srgbClr val="B0B9C7"/>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0B9C7"/>
                      </a:solidFill>
                      <a:prstDash val="solid"/>
                      <a:round/>
                      <a:headEnd type="none" w="med" len="med"/>
                      <a:tailEnd type="none" w="med" len="med"/>
                    </a:lnB>
                    <a:solidFill>
                      <a:srgbClr val="DCE8FA"/>
                    </a:solidFill>
                  </a:tcPr>
                </a:tc>
                <a:tc>
                  <a:txBody>
                    <a:bodyPr/>
                    <a:lstStyle/>
                    <a:p>
                      <a:pPr algn="r" indent="0" marL="0">
                        <a:lnSpc>
                          <a:spcPts val="2240"/>
                        </a:lnSpc>
                        <a:buNone/>
                      </a:pPr>
                      <a:r>
                        <a:rPr lang="en-US" sz="1600" dirty="0">
                          <a:solidFill>
                            <a:srgbClr val="14213D"/>
                          </a:solidFill>
                          <a:latin typeface="IBM Plex Sans" pitchFamily="34" charset="0"/>
                          <a:ea typeface="IBM Plex Sans" pitchFamily="34" charset="-122"/>
                          <a:cs typeface="IBM Plex Sans" pitchFamily="34" charset="-120"/>
                        </a:rPr>
                        <a:t>0.15%</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B0B9C7"/>
                      </a:solidFill>
                      <a:prstDash val="solid"/>
                      <a:round/>
                      <a:headEnd type="none" w="med" len="med"/>
                      <a:tailEnd type="none" w="med" len="med"/>
                    </a:lnL>
                    <a:lnR w="12700" cap="flat" cmpd="sng" algn="ctr">
                      <a:solidFill>
                        <a:srgbClr val="B0B9C7"/>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0B9C7"/>
                      </a:solidFill>
                      <a:prstDash val="solid"/>
                      <a:round/>
                      <a:headEnd type="none" w="med" len="med"/>
                      <a:tailEnd type="none" w="med" len="med"/>
                    </a:lnB>
                    <a:solidFill>
                      <a:srgbClr val="DCE8FA"/>
                    </a:solidFill>
                  </a:tcPr>
                </a:tc>
              </a:tr>
            </a:tbl>
          </a:graphicData>
        </a:graphic>
      </p:graphicFrame>
      <p:sp>
        <p:nvSpPr>
          <p:cNvPr id="4" name="Text 1"/>
          <p:cNvSpPr/>
          <p:nvPr/>
        </p:nvSpPr>
        <p:spPr>
          <a:xfrm>
            <a:off x="812800" y="4478021"/>
            <a:ext cx="10883392" cy="5943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4213D"/>
                </a:solidFill>
                <a:latin typeface="IBM Plex Sans" pitchFamily="34" charset="0"/>
                <a:ea typeface="IBM Plex Sans" pitchFamily="34" charset="-122"/>
                <a:cs typeface="IBM Plex Sans" pitchFamily="34" charset="-120"/>
              </a:rPr>
              <a:t>Shaded row = best F1.</a:t>
            </a:r>
            <a:r>
              <a:rPr lang="en-US" sz="1600" dirty="0">
                <a:solidFill>
                  <a:srgbClr val="14213D"/>
                </a:solidFill>
                <a:latin typeface="IBM Plex Sans" pitchFamily="34" charset="0"/>
                <a:ea typeface="IBM Plex Sans" pitchFamily="34" charset="-122"/>
                <a:cs typeface="IBM Plex Sans" pitchFamily="34" charset="-120"/>
              </a:rPr>
              <a:t> FP rate = false-positive rate on 678 real messages. With only 96 spam messages and 5 vs 1 false positives, the confidence intervals overlap: read the ranking as suggestive, not proven.</a:t>
            </a:r>
            <a:endParaRPr lang="en-US" sz="1600" dirty="0"/>
          </a:p>
        </p:txBody>
      </p:sp>
      <p:sp>
        <p:nvSpPr>
          <p:cNvPr id="5" name="Text 2"/>
          <p:cNvSpPr/>
          <p:nvPr/>
        </p:nvSpPr>
        <p:spPr>
          <a:xfrm>
            <a:off x="812800" y="6238239"/>
            <a:ext cx="65405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270"/>
                </a:solidFill>
                <a:latin typeface="IBM Plex Sans" pitchFamily="34" charset="0"/>
                <a:ea typeface="IBM Plex Sans" pitchFamily="34" charset="-122"/>
                <a:cs typeface="IBM Plex Sans" pitchFamily="34" charset="-120"/>
              </a:rPr>
              <a:t>SpamShield · Team 1 · spam is the positive class · results/results.md</a:t>
            </a:r>
            <a:endParaRPr lang="en-US" sz="1200" dirty="0"/>
          </a:p>
        </p:txBody>
      </p:sp>
      <p:sp>
        <p:nvSpPr>
          <p:cNvPr id="6" name="Text 3"/>
          <p:cNvSpPr/>
          <p:nvPr/>
        </p:nvSpPr>
        <p:spPr>
          <a:xfrm>
            <a:off x="10058400" y="6238239"/>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A6270"/>
                </a:solidFill>
                <a:latin typeface="IBM Plex Sans" pitchFamily="34" charset="0"/>
                <a:ea typeface="IBM Plex Sans" pitchFamily="34" charset="-122"/>
                <a:cs typeface="IBM Plex Sans" pitchFamily="34" charset="-120"/>
              </a:rPr>
              <a:t>7 / 10</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6F2"/>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51180"/>
          </a:xfrm>
          <a:prstGeom prst="rect">
            <a:avLst/>
          </a:prstGeom>
          <a:noFill/>
          <a:ln/>
        </p:spPr>
        <p:txBody>
          <a:bodyPr wrap="square" lIns="0" tIns="0" rIns="0" bIns="0" rtlCol="0" anchor="t">
            <a:normAutofit/>
          </a:bodyPr>
          <a:lstStyle/>
          <a:p>
            <a:pPr algn="l" indent="0" marL="0">
              <a:lnSpc>
                <a:spcPts val="4140"/>
              </a:lnSpc>
              <a:buNone/>
            </a:pPr>
            <a:r>
              <a:rPr lang="en-US" sz="3600" b="1" i="0" dirty="0">
                <a:solidFill>
                  <a:srgbClr val="14213D"/>
                </a:solidFill>
                <a:latin typeface="IBM Plex Sans" pitchFamily="34" charset="0"/>
                <a:ea typeface="IBM Plex Sans" pitchFamily="34" charset="-122"/>
                <a:cs typeface="IBM Plex Sans" pitchFamily="34" charset="-120"/>
              </a:rPr>
              <a:t>Five misclassified messages, five causes</a:t>
            </a:r>
            <a:endParaRPr lang="en-US" sz="3600" dirty="0"/>
          </a:p>
        </p:txBody>
      </p:sp>
      <p:sp>
        <p:nvSpPr>
          <p:cNvPr id="3" name="Text 1"/>
          <p:cNvSpPr/>
          <p:nvPr/>
        </p:nvSpPr>
        <p:spPr>
          <a:xfrm>
            <a:off x="812800" y="149098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8481A"/>
                </a:solidFill>
                <a:latin typeface="IBM Plex Sans" pitchFamily="34" charset="0"/>
                <a:ea typeface="IBM Plex Sans" pitchFamily="34" charset="-122"/>
                <a:cs typeface="IBM Plex Sans" pitchFamily="34" charset="-120"/>
              </a:rPr>
              <a:t>REAL MESSAGES BLOCKED (FALSE POSITIVES)</a:t>
            </a:r>
            <a:endParaRPr lang="en-US" sz="1200" dirty="0"/>
          </a:p>
        </p:txBody>
      </p:sp>
      <p:sp>
        <p:nvSpPr>
          <p:cNvPr id="4" name="Shape 2"/>
          <p:cNvSpPr/>
          <p:nvPr/>
        </p:nvSpPr>
        <p:spPr>
          <a:xfrm>
            <a:off x="815975" y="1859914"/>
            <a:ext cx="5200650" cy="1217930"/>
          </a:xfrm>
          <a:prstGeom prst="roundRect">
            <a:avLst>
              <a:gd name="adj" fmla="val 8081"/>
            </a:avLst>
          </a:prstGeom>
          <a:solidFill>
            <a:srgbClr val="FDFCF9"/>
          </a:solidFill>
          <a:ln w="6350">
            <a:solidFill>
              <a:srgbClr val="DAD8D0"/>
            </a:solidFill>
            <a:prstDash val="solid"/>
          </a:ln>
        </p:spPr>
      </p:sp>
      <p:sp>
        <p:nvSpPr>
          <p:cNvPr id="5" name="Text 3"/>
          <p:cNvSpPr/>
          <p:nvPr/>
        </p:nvSpPr>
        <p:spPr>
          <a:xfrm>
            <a:off x="995680" y="2039621"/>
            <a:ext cx="498647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F5FBF"/>
                </a:solidFill>
                <a:latin typeface="JetBrains Mono" pitchFamily="49" charset="0"/>
                <a:ea typeface="JetBrains Mono" pitchFamily="49" charset="-122"/>
                <a:cs typeface="JetBrains Mono" pitchFamily="49" charset="-120"/>
              </a:rPr>
              <a:t>Nokia phone is lovly..</a:t>
            </a:r>
            <a:endParaRPr lang="en-US" sz="1200" dirty="0"/>
          </a:p>
        </p:txBody>
      </p:sp>
      <p:sp>
        <p:nvSpPr>
          <p:cNvPr id="6" name="Text 4"/>
          <p:cNvSpPr/>
          <p:nvPr/>
        </p:nvSpPr>
        <p:spPr>
          <a:xfrm>
            <a:off x="995680" y="2329182"/>
            <a:ext cx="4986477" cy="5943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4213D"/>
                </a:solidFill>
                <a:latin typeface="IBM Plex Sans" pitchFamily="34" charset="0"/>
                <a:ea typeface="IBM Plex Sans" pitchFamily="34" charset="-122"/>
                <a:cs typeface="IBM Plex Sans" pitchFamily="34" charset="-120"/>
              </a:rPr>
              <a:t>“nokia” appears in 28 spam and 0 real training messages, and almost nothing else offsets it.</a:t>
            </a:r>
            <a:endParaRPr lang="en-US" sz="1600" dirty="0"/>
          </a:p>
        </p:txBody>
      </p:sp>
      <p:sp>
        <p:nvSpPr>
          <p:cNvPr id="7" name="Shape 5"/>
          <p:cNvSpPr/>
          <p:nvPr/>
        </p:nvSpPr>
        <p:spPr>
          <a:xfrm>
            <a:off x="6175375" y="1859914"/>
            <a:ext cx="5200650" cy="1217930"/>
          </a:xfrm>
          <a:prstGeom prst="roundRect">
            <a:avLst>
              <a:gd name="adj" fmla="val 8081"/>
            </a:avLst>
          </a:prstGeom>
          <a:solidFill>
            <a:srgbClr val="FDFCF9"/>
          </a:solidFill>
          <a:ln w="6350">
            <a:solidFill>
              <a:srgbClr val="DAD8D0"/>
            </a:solidFill>
            <a:prstDash val="solid"/>
          </a:ln>
        </p:spPr>
      </p:sp>
      <p:sp>
        <p:nvSpPr>
          <p:cNvPr id="8" name="Text 6"/>
          <p:cNvSpPr/>
          <p:nvPr/>
        </p:nvSpPr>
        <p:spPr>
          <a:xfrm>
            <a:off x="6355080" y="2039621"/>
            <a:ext cx="498647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F5FBF"/>
                </a:solidFill>
                <a:latin typeface="JetBrains Mono" pitchFamily="49" charset="0"/>
                <a:ea typeface="JetBrains Mono" pitchFamily="49" charset="-122"/>
                <a:cs typeface="JetBrains Mono" pitchFamily="49" charset="-120"/>
              </a:rPr>
              <a:t>Unlimited texts. Limited minutes.</a:t>
            </a:r>
            <a:endParaRPr lang="en-US" sz="1200" dirty="0"/>
          </a:p>
        </p:txBody>
      </p:sp>
      <p:sp>
        <p:nvSpPr>
          <p:cNvPr id="9" name="Text 7"/>
          <p:cNvSpPr/>
          <p:nvPr/>
        </p:nvSpPr>
        <p:spPr>
          <a:xfrm>
            <a:off x="6355080" y="2329182"/>
            <a:ext cx="4986477" cy="5943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4213D"/>
                </a:solidFill>
                <a:latin typeface="IBM Plex Sans" pitchFamily="34" charset="0"/>
                <a:ea typeface="IBM Plex Sans" pitchFamily="34" charset="-122"/>
                <a:cs typeface="IBM Plex Sans" pitchFamily="34" charset="-120"/>
              </a:rPr>
              <a:t>Plan words look like carrier promotions, and no word in it leans toward real mail.</a:t>
            </a:r>
            <a:endParaRPr lang="en-US" sz="1600" dirty="0"/>
          </a:p>
        </p:txBody>
      </p:sp>
      <p:sp>
        <p:nvSpPr>
          <p:cNvPr id="10" name="Text 8"/>
          <p:cNvSpPr/>
          <p:nvPr/>
        </p:nvSpPr>
        <p:spPr>
          <a:xfrm>
            <a:off x="812800" y="3233421"/>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8481A"/>
                </a:solidFill>
                <a:latin typeface="IBM Plex Sans" pitchFamily="34" charset="0"/>
                <a:ea typeface="IBM Plex Sans" pitchFamily="34" charset="-122"/>
                <a:cs typeface="IBM Plex Sans" pitchFamily="34" charset="-120"/>
              </a:rPr>
              <a:t>SPAM DELIVERED (MISSED)</a:t>
            </a:r>
            <a:endParaRPr lang="en-US" sz="1200" dirty="0"/>
          </a:p>
        </p:txBody>
      </p:sp>
      <p:sp>
        <p:nvSpPr>
          <p:cNvPr id="11" name="Shape 9"/>
          <p:cNvSpPr/>
          <p:nvPr/>
        </p:nvSpPr>
        <p:spPr>
          <a:xfrm>
            <a:off x="815975" y="3602357"/>
            <a:ext cx="3414157" cy="2000250"/>
          </a:xfrm>
          <a:prstGeom prst="roundRect">
            <a:avLst>
              <a:gd name="adj" fmla="val 4921"/>
            </a:avLst>
          </a:prstGeom>
          <a:solidFill>
            <a:srgbClr val="FDFCF9"/>
          </a:solidFill>
          <a:ln w="6350">
            <a:solidFill>
              <a:srgbClr val="DAD8D0"/>
            </a:solidFill>
            <a:prstDash val="solid"/>
          </a:ln>
        </p:spPr>
      </p:sp>
      <p:sp>
        <p:nvSpPr>
          <p:cNvPr id="12" name="Text 10"/>
          <p:cNvSpPr/>
          <p:nvPr/>
        </p:nvSpPr>
        <p:spPr>
          <a:xfrm>
            <a:off x="995680" y="3782061"/>
            <a:ext cx="3146389"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F5FBF"/>
                </a:solidFill>
                <a:latin typeface="JetBrains Mono" pitchFamily="49" charset="0"/>
                <a:ea typeface="JetBrains Mono" pitchFamily="49" charset="-122"/>
                <a:cs typeface="JetBrains Mono" pitchFamily="49" charset="-120"/>
              </a:rPr>
              <a:t>ASKED 3MOBILE IF 0870 CHATLINES INCLU IN FREE MINS …</a:t>
            </a:r>
            <a:endParaRPr lang="en-US" sz="1200" dirty="0"/>
          </a:p>
        </p:txBody>
      </p:sp>
      <p:sp>
        <p:nvSpPr>
          <p:cNvPr id="13" name="Text 11"/>
          <p:cNvSpPr/>
          <p:nvPr/>
        </p:nvSpPr>
        <p:spPr>
          <a:xfrm>
            <a:off x="995680" y="4284979"/>
            <a:ext cx="3146389" cy="87884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4213D"/>
                </a:solidFill>
                <a:latin typeface="IBM Plex Sans" pitchFamily="34" charset="0"/>
                <a:ea typeface="IBM Plex Sans" pitchFamily="34" charset="-122"/>
                <a:cs typeface="IBM Plex Sans" pitchFamily="34" charset="-120"/>
              </a:rPr>
              <a:t>Six unseen words are ignored, and casual “i”, “got” and “dont” outvote £250 and 0870.</a:t>
            </a:r>
            <a:endParaRPr lang="en-US" sz="1600" dirty="0"/>
          </a:p>
        </p:txBody>
      </p:sp>
      <p:sp>
        <p:nvSpPr>
          <p:cNvPr id="14" name="Shape 12"/>
          <p:cNvSpPr/>
          <p:nvPr/>
        </p:nvSpPr>
        <p:spPr>
          <a:xfrm>
            <a:off x="4388882" y="3602357"/>
            <a:ext cx="3414236" cy="2000250"/>
          </a:xfrm>
          <a:prstGeom prst="roundRect">
            <a:avLst>
              <a:gd name="adj" fmla="val 4921"/>
            </a:avLst>
          </a:prstGeom>
          <a:solidFill>
            <a:srgbClr val="FDFCF9"/>
          </a:solidFill>
          <a:ln w="6350">
            <a:solidFill>
              <a:srgbClr val="DAD8D0"/>
            </a:solidFill>
            <a:prstDash val="solid"/>
          </a:ln>
        </p:spPr>
      </p:sp>
      <p:sp>
        <p:nvSpPr>
          <p:cNvPr id="15" name="Text 13"/>
          <p:cNvSpPr/>
          <p:nvPr/>
        </p:nvSpPr>
        <p:spPr>
          <a:xfrm>
            <a:off x="4568587" y="3782061"/>
            <a:ext cx="3146471"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F5FBF"/>
                </a:solidFill>
                <a:latin typeface="JetBrains Mono" pitchFamily="49" charset="0"/>
                <a:ea typeface="JetBrains Mono" pitchFamily="49" charset="-122"/>
                <a:cs typeface="JetBrains Mono" pitchFamily="49" charset="-120"/>
              </a:rPr>
              <a:t>Can U get 2 phone NOW? … Call me NOW on 09096102316 …</a:t>
            </a:r>
            <a:endParaRPr lang="en-US" sz="1200" dirty="0"/>
          </a:p>
        </p:txBody>
      </p:sp>
      <p:sp>
        <p:nvSpPr>
          <p:cNvPr id="16" name="Text 14"/>
          <p:cNvSpPr/>
          <p:nvPr/>
        </p:nvSpPr>
        <p:spPr>
          <a:xfrm>
            <a:off x="4568587" y="4284979"/>
            <a:ext cx="3146471" cy="1163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4213D"/>
                </a:solidFill>
                <a:latin typeface="IBM Plex Sans" pitchFamily="34" charset="0"/>
                <a:ea typeface="IBM Plex Sans" pitchFamily="34" charset="-122"/>
                <a:cs typeface="IBM Plex Sans" pitchFamily="34" charset="-120"/>
              </a:rPr>
              <a:t>The phone number and premium-rate suffix were never seen in training, so they count for nothing.</a:t>
            </a:r>
            <a:endParaRPr lang="en-US" sz="1600" dirty="0"/>
          </a:p>
        </p:txBody>
      </p:sp>
      <p:sp>
        <p:nvSpPr>
          <p:cNvPr id="17" name="Shape 15"/>
          <p:cNvSpPr/>
          <p:nvPr/>
        </p:nvSpPr>
        <p:spPr>
          <a:xfrm>
            <a:off x="7961868" y="3602357"/>
            <a:ext cx="3414157" cy="2000250"/>
          </a:xfrm>
          <a:prstGeom prst="roundRect">
            <a:avLst>
              <a:gd name="adj" fmla="val 4921"/>
            </a:avLst>
          </a:prstGeom>
          <a:solidFill>
            <a:srgbClr val="FDFCF9"/>
          </a:solidFill>
          <a:ln w="6350">
            <a:solidFill>
              <a:srgbClr val="DAD8D0"/>
            </a:solidFill>
            <a:prstDash val="solid"/>
          </a:ln>
        </p:spPr>
      </p:sp>
      <p:sp>
        <p:nvSpPr>
          <p:cNvPr id="18" name="Text 16"/>
          <p:cNvSpPr/>
          <p:nvPr/>
        </p:nvSpPr>
        <p:spPr>
          <a:xfrm>
            <a:off x="8141574" y="3782061"/>
            <a:ext cx="3146389"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F5FBF"/>
                </a:solidFill>
                <a:latin typeface="JetBrains Mono" pitchFamily="49" charset="0"/>
                <a:ea typeface="JetBrains Mono" pitchFamily="49" charset="-122"/>
                <a:cs typeface="JetBrains Mono" pitchFamily="49" charset="-120"/>
              </a:rPr>
              <a:t>Hi I’m sue. I am 20 years old … text SUE to 89555 … 18+</a:t>
            </a:r>
            <a:endParaRPr lang="en-US" sz="1200" dirty="0"/>
          </a:p>
        </p:txBody>
      </p:sp>
      <p:sp>
        <p:nvSpPr>
          <p:cNvPr id="19" name="Text 17"/>
          <p:cNvSpPr/>
          <p:nvPr/>
        </p:nvSpPr>
        <p:spPr>
          <a:xfrm>
            <a:off x="8141574" y="4284979"/>
            <a:ext cx="3146389" cy="87884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4213D"/>
                </a:solidFill>
                <a:latin typeface="IBM Plex Sans" pitchFamily="34" charset="0"/>
                <a:ea typeface="IBM Plex Sans" pitchFamily="34" charset="-122"/>
                <a:cs typeface="IBM Plex Sans" pitchFamily="34" charset="-120"/>
              </a:rPr>
              <a:t>Many weak “i”, “my” and “me” words add up and swamp a few strong spam words.</a:t>
            </a:r>
            <a:endParaRPr lang="en-US" sz="1600" dirty="0"/>
          </a:p>
        </p:txBody>
      </p:sp>
      <p:sp>
        <p:nvSpPr>
          <p:cNvPr id="20" name="Text 18"/>
          <p:cNvSpPr/>
          <p:nvPr/>
        </p:nvSpPr>
        <p:spPr>
          <a:xfrm>
            <a:off x="812800" y="6238242"/>
            <a:ext cx="65405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270"/>
                </a:solidFill>
                <a:latin typeface="IBM Plex Sans" pitchFamily="34" charset="0"/>
                <a:ea typeface="IBM Plex Sans" pitchFamily="34" charset="-122"/>
                <a:cs typeface="IBM Plex Sans" pitchFamily="34" charset="-120"/>
              </a:rPr>
              <a:t>SpamShield · Team 1 · tuned Naive Bayes: 7 false positives, 11 missed spam</a:t>
            </a:r>
            <a:endParaRPr lang="en-US" sz="1200" dirty="0"/>
          </a:p>
        </p:txBody>
      </p:sp>
      <p:sp>
        <p:nvSpPr>
          <p:cNvPr id="21" name="Text 19"/>
          <p:cNvSpPr/>
          <p:nvPr/>
        </p:nvSpPr>
        <p:spPr>
          <a:xfrm>
            <a:off x="10058400" y="6238242"/>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A6270"/>
                </a:solidFill>
                <a:latin typeface="IBM Plex Sans" pitchFamily="34" charset="0"/>
                <a:ea typeface="IBM Plex Sans" pitchFamily="34" charset="-122"/>
                <a:cs typeface="IBM Plex Sans" pitchFamily="34" charset="-120"/>
              </a:rPr>
              <a:t>8 / 10</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6F2"/>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51180"/>
          </a:xfrm>
          <a:prstGeom prst="rect">
            <a:avLst/>
          </a:prstGeom>
          <a:noFill/>
          <a:ln/>
        </p:spPr>
        <p:txBody>
          <a:bodyPr wrap="square" lIns="0" tIns="0" rIns="0" bIns="0" rtlCol="0" anchor="t">
            <a:normAutofit/>
          </a:bodyPr>
          <a:lstStyle/>
          <a:p>
            <a:pPr algn="l" indent="0" marL="0">
              <a:lnSpc>
                <a:spcPts val="4140"/>
              </a:lnSpc>
              <a:buNone/>
            </a:pPr>
            <a:r>
              <a:rPr lang="en-US" sz="3600" b="1" i="0" dirty="0">
                <a:solidFill>
                  <a:srgbClr val="14213D"/>
                </a:solidFill>
                <a:latin typeface="IBM Plex Sans" pitchFamily="34" charset="0"/>
                <a:ea typeface="IBM Plex Sans" pitchFamily="34" charset="-122"/>
                <a:cs typeface="IBM Plex Sans" pitchFamily="34" charset="-120"/>
              </a:rPr>
              <a:t>Where it holds up and where it breaks</a:t>
            </a:r>
            <a:endParaRPr lang="en-US" sz="3600" dirty="0"/>
          </a:p>
        </p:txBody>
      </p:sp>
      <p:sp>
        <p:nvSpPr>
          <p:cNvPr id="3" name="Shape 1"/>
          <p:cNvSpPr/>
          <p:nvPr/>
        </p:nvSpPr>
        <p:spPr>
          <a:xfrm>
            <a:off x="815975" y="1595754"/>
            <a:ext cx="3380264" cy="2452370"/>
          </a:xfrm>
          <a:prstGeom prst="roundRect">
            <a:avLst>
              <a:gd name="adj" fmla="val 4013"/>
            </a:avLst>
          </a:prstGeom>
          <a:solidFill>
            <a:srgbClr val="FDFCF9"/>
          </a:solidFill>
          <a:ln w="6350">
            <a:solidFill>
              <a:srgbClr val="DAD8D0"/>
            </a:solidFill>
            <a:prstDash val="solid"/>
          </a:ln>
        </p:spPr>
      </p:sp>
      <p:sp>
        <p:nvSpPr>
          <p:cNvPr id="4" name="Text 2"/>
          <p:cNvSpPr/>
          <p:nvPr/>
        </p:nvSpPr>
        <p:spPr>
          <a:xfrm>
            <a:off x="1071880" y="1851664"/>
            <a:ext cx="2954507" cy="36068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F5FBF"/>
                </a:solidFill>
                <a:latin typeface="JetBrains Mono" pitchFamily="49" charset="0"/>
                <a:ea typeface="JetBrains Mono" pitchFamily="49" charset="-122"/>
                <a:cs typeface="JetBrains Mono" pitchFamily="49" charset="-120"/>
              </a:rPr>
              <a:t>0.885 → 0.833</a:t>
            </a:r>
            <a:endParaRPr lang="en-US" sz="2200" dirty="0"/>
          </a:p>
        </p:txBody>
      </p:sp>
      <p:sp>
        <p:nvSpPr>
          <p:cNvPr id="5" name="Text 3"/>
          <p:cNvSpPr/>
          <p:nvPr/>
        </p:nvSpPr>
        <p:spPr>
          <a:xfrm>
            <a:off x="1071880" y="2288542"/>
            <a:ext cx="2954507" cy="289560"/>
          </a:xfrm>
          <a:prstGeom prst="rect">
            <a:avLst/>
          </a:prstGeom>
          <a:noFill/>
          <a:ln/>
        </p:spPr>
        <p:txBody>
          <a:bodyPr wrap="square" lIns="0" tIns="0" rIns="0" bIns="0" rtlCol="0" anchor="t">
            <a:normAutofit/>
          </a:bodyPr>
          <a:lstStyle/>
          <a:p>
            <a:pPr algn="l" indent="0" marL="0">
              <a:lnSpc>
                <a:spcPts val="2080"/>
              </a:lnSpc>
              <a:buNone/>
            </a:pPr>
            <a:r>
              <a:rPr lang="en-US" sz="1600" b="1" dirty="0">
                <a:solidFill>
                  <a:srgbClr val="14213D"/>
                </a:solidFill>
                <a:latin typeface="IBM Plex Sans" pitchFamily="34" charset="0"/>
                <a:ea typeface="IBM Plex Sans" pitchFamily="34" charset="-122"/>
                <a:cs typeface="IBM Plex Sans" pitchFamily="34" charset="-120"/>
              </a:rPr>
              <a:t>Spam recall under leetspeak</a:t>
            </a:r>
            <a:endParaRPr lang="en-US" sz="1600" dirty="0"/>
          </a:p>
        </p:txBody>
      </p:sp>
      <p:sp>
        <p:nvSpPr>
          <p:cNvPr id="6" name="Text 4"/>
          <p:cNvSpPr/>
          <p:nvPr/>
        </p:nvSpPr>
        <p:spPr>
          <a:xfrm>
            <a:off x="1071880" y="2654300"/>
            <a:ext cx="2954507" cy="1163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5568"/>
                </a:solidFill>
                <a:latin typeface="IBM Plex Sans" pitchFamily="34" charset="0"/>
                <a:ea typeface="IBM Plex Sans" pitchFamily="34" charset="-122"/>
                <a:cs typeface="IBM Plex Sans" pitchFamily="34" charset="-120"/>
              </a:rPr>
              <a:t>Swaps like FR33 PR1ZE cut recall. Undoing them restored 0.885 with no extra false positives.</a:t>
            </a:r>
            <a:endParaRPr lang="en-US" sz="1600" dirty="0"/>
          </a:p>
        </p:txBody>
      </p:sp>
      <p:sp>
        <p:nvSpPr>
          <p:cNvPr id="7" name="Shape 5"/>
          <p:cNvSpPr/>
          <p:nvPr/>
        </p:nvSpPr>
        <p:spPr>
          <a:xfrm>
            <a:off x="4405789" y="1595754"/>
            <a:ext cx="3380343" cy="2452370"/>
          </a:xfrm>
          <a:prstGeom prst="roundRect">
            <a:avLst>
              <a:gd name="adj" fmla="val 4013"/>
            </a:avLst>
          </a:prstGeom>
          <a:solidFill>
            <a:srgbClr val="FDFCF9"/>
          </a:solidFill>
          <a:ln w="6350">
            <a:solidFill>
              <a:srgbClr val="DAD8D0"/>
            </a:solidFill>
            <a:prstDash val="solid"/>
          </a:ln>
        </p:spPr>
      </p:sp>
      <p:sp>
        <p:nvSpPr>
          <p:cNvPr id="8" name="Text 6"/>
          <p:cNvSpPr/>
          <p:nvPr/>
        </p:nvSpPr>
        <p:spPr>
          <a:xfrm>
            <a:off x="4661694" y="1851664"/>
            <a:ext cx="2954589" cy="36068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F5FBF"/>
                </a:solidFill>
                <a:latin typeface="JetBrains Mono" pitchFamily="49" charset="0"/>
                <a:ea typeface="JetBrains Mono" pitchFamily="49" charset="-122"/>
                <a:cs typeface="JetBrains Mono" pitchFamily="49" charset="-120"/>
              </a:rPr>
              <a:t>5 of 7</a:t>
            </a:r>
            <a:endParaRPr lang="en-US" sz="2200" dirty="0"/>
          </a:p>
        </p:txBody>
      </p:sp>
      <p:sp>
        <p:nvSpPr>
          <p:cNvPr id="9" name="Text 7"/>
          <p:cNvSpPr/>
          <p:nvPr/>
        </p:nvSpPr>
        <p:spPr>
          <a:xfrm>
            <a:off x="4661694" y="2288542"/>
            <a:ext cx="2954589" cy="289560"/>
          </a:xfrm>
          <a:prstGeom prst="rect">
            <a:avLst/>
          </a:prstGeom>
          <a:noFill/>
          <a:ln/>
        </p:spPr>
        <p:txBody>
          <a:bodyPr wrap="square" lIns="0" tIns="0" rIns="0" bIns="0" rtlCol="0" anchor="t">
            <a:normAutofit/>
          </a:bodyPr>
          <a:lstStyle/>
          <a:p>
            <a:pPr algn="l" indent="0" marL="0">
              <a:lnSpc>
                <a:spcPts val="2080"/>
              </a:lnSpc>
              <a:buNone/>
            </a:pPr>
            <a:r>
              <a:rPr lang="en-US" sz="1600" b="1" dirty="0">
                <a:solidFill>
                  <a:srgbClr val="14213D"/>
                </a:solidFill>
                <a:latin typeface="IBM Plex Sans" pitchFamily="34" charset="0"/>
                <a:ea typeface="IBM Plex Sans" pitchFamily="34" charset="-122"/>
                <a:cs typeface="IBM Plex Sans" pitchFamily="34" charset="-120"/>
              </a:rPr>
              <a:t>Modern scam probe</a:t>
            </a:r>
            <a:endParaRPr lang="en-US" sz="1600" dirty="0"/>
          </a:p>
        </p:txBody>
      </p:sp>
      <p:sp>
        <p:nvSpPr>
          <p:cNvPr id="10" name="Text 8"/>
          <p:cNvSpPr/>
          <p:nvPr/>
        </p:nvSpPr>
        <p:spPr>
          <a:xfrm>
            <a:off x="4661694" y="2654300"/>
            <a:ext cx="2954589" cy="1163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5568"/>
                </a:solidFill>
                <a:latin typeface="IBM Plex Sans" pitchFamily="34" charset="0"/>
                <a:ea typeface="IBM Plex Sans" pitchFamily="34" charset="-122"/>
                <a:cs typeface="IBM Plex Sans" pitchFamily="34" charset="-120"/>
              </a:rPr>
              <a:t>On 7 messages we wrote, it missed a toll-payment scam and blocked an appointment confirmation. Anecdotal only.</a:t>
            </a:r>
            <a:endParaRPr lang="en-US" sz="1600" dirty="0"/>
          </a:p>
        </p:txBody>
      </p:sp>
      <p:sp>
        <p:nvSpPr>
          <p:cNvPr id="11" name="Shape 9"/>
          <p:cNvSpPr/>
          <p:nvPr/>
        </p:nvSpPr>
        <p:spPr>
          <a:xfrm>
            <a:off x="7995682" y="1595754"/>
            <a:ext cx="3380343" cy="2452370"/>
          </a:xfrm>
          <a:prstGeom prst="roundRect">
            <a:avLst>
              <a:gd name="adj" fmla="val 4013"/>
            </a:avLst>
          </a:prstGeom>
          <a:solidFill>
            <a:srgbClr val="FDFCF9"/>
          </a:solidFill>
          <a:ln w="6350">
            <a:solidFill>
              <a:srgbClr val="DAD8D0"/>
            </a:solidFill>
            <a:prstDash val="solid"/>
          </a:ln>
        </p:spPr>
      </p:sp>
      <p:sp>
        <p:nvSpPr>
          <p:cNvPr id="12" name="Text 10"/>
          <p:cNvSpPr/>
          <p:nvPr/>
        </p:nvSpPr>
        <p:spPr>
          <a:xfrm>
            <a:off x="8251587" y="1851664"/>
            <a:ext cx="2954589" cy="36068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B8481A"/>
                </a:solidFill>
                <a:latin typeface="JetBrains Mono" pitchFamily="49" charset="0"/>
                <a:ea typeface="JetBrains Mono" pitchFamily="49" charset="-122"/>
                <a:cs typeface="JetBrains Mono" pitchFamily="49" charset="-120"/>
              </a:rPr>
              <a:t>0.44% → 1.03%</a:t>
            </a:r>
            <a:endParaRPr lang="en-US" sz="2200" dirty="0"/>
          </a:p>
        </p:txBody>
      </p:sp>
      <p:sp>
        <p:nvSpPr>
          <p:cNvPr id="13" name="Text 11"/>
          <p:cNvSpPr/>
          <p:nvPr/>
        </p:nvSpPr>
        <p:spPr>
          <a:xfrm>
            <a:off x="8251587" y="2288542"/>
            <a:ext cx="2954589" cy="289560"/>
          </a:xfrm>
          <a:prstGeom prst="rect">
            <a:avLst/>
          </a:prstGeom>
          <a:noFill/>
          <a:ln/>
        </p:spPr>
        <p:txBody>
          <a:bodyPr wrap="square" lIns="0" tIns="0" rIns="0" bIns="0" rtlCol="0" anchor="t">
            <a:normAutofit/>
          </a:bodyPr>
          <a:lstStyle/>
          <a:p>
            <a:pPr algn="l" indent="0" marL="0">
              <a:lnSpc>
                <a:spcPts val="2080"/>
              </a:lnSpc>
              <a:buNone/>
            </a:pPr>
            <a:r>
              <a:rPr lang="en-US" sz="1600" b="1" dirty="0">
                <a:solidFill>
                  <a:srgbClr val="14213D"/>
                </a:solidFill>
                <a:latin typeface="IBM Plex Sans" pitchFamily="34" charset="0"/>
                <a:ea typeface="IBM Plex Sans" pitchFamily="34" charset="-122"/>
                <a:cs typeface="IBM Plex Sans" pitchFamily="34" charset="-120"/>
              </a:rPr>
              <a:t>Dev-tuned threshold on test</a:t>
            </a:r>
            <a:endParaRPr lang="en-US" sz="1600" dirty="0"/>
          </a:p>
        </p:txBody>
      </p:sp>
      <p:sp>
        <p:nvSpPr>
          <p:cNvPr id="14" name="Text 12"/>
          <p:cNvSpPr/>
          <p:nvPr/>
        </p:nvSpPr>
        <p:spPr>
          <a:xfrm>
            <a:off x="8251587" y="2654300"/>
            <a:ext cx="2954589" cy="1163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5568"/>
                </a:solidFill>
                <a:latin typeface="IBM Plex Sans" pitchFamily="34" charset="0"/>
                <a:ea typeface="IBM Plex Sans" pitchFamily="34" charset="-122"/>
                <a:cs typeface="IBM Plex Sans" pitchFamily="34" charset="-120"/>
              </a:rPr>
              <a:t>False positives rose from dev to test, past our 0.5% target. 93% of Naive Bayes outputs sit above 0.99 or below 0.01.</a:t>
            </a:r>
            <a:endParaRPr lang="en-US" sz="1600" dirty="0"/>
          </a:p>
        </p:txBody>
      </p:sp>
      <p:sp>
        <p:nvSpPr>
          <p:cNvPr id="15" name="Text 13"/>
          <p:cNvSpPr/>
          <p:nvPr/>
        </p:nvSpPr>
        <p:spPr>
          <a:xfrm>
            <a:off x="812800" y="6238242"/>
            <a:ext cx="65405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270"/>
                </a:solidFill>
                <a:latin typeface="IBM Plex Sans" pitchFamily="34" charset="0"/>
                <a:ea typeface="IBM Plex Sans" pitchFamily="34" charset="-122"/>
                <a:cs typeface="IBM Plex Sans" pitchFamily="34" charset="-120"/>
              </a:rPr>
              <a:t>SpamShield · Team 1 · results/results.md, results/extras.md</a:t>
            </a:r>
            <a:endParaRPr lang="en-US" sz="1200" dirty="0"/>
          </a:p>
        </p:txBody>
      </p:sp>
      <p:sp>
        <p:nvSpPr>
          <p:cNvPr id="16" name="Text 14"/>
          <p:cNvSpPr/>
          <p:nvPr/>
        </p:nvSpPr>
        <p:spPr>
          <a:xfrm>
            <a:off x="10058400" y="6238242"/>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A6270"/>
                </a:solidFill>
                <a:latin typeface="IBM Plex Sans" pitchFamily="34" charset="0"/>
                <a:ea typeface="IBM Plex Sans" pitchFamily="34" charset="-122"/>
                <a:cs typeface="IBM Plex Sans" pitchFamily="34" charset="-120"/>
              </a:rPr>
              <a:t>9 / 10</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4213D"/>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51180"/>
          </a:xfrm>
          <a:prstGeom prst="rect">
            <a:avLst/>
          </a:prstGeom>
          <a:noFill/>
          <a:ln/>
        </p:spPr>
        <p:txBody>
          <a:bodyPr wrap="square" lIns="0" tIns="0" rIns="0" bIns="0" rtlCol="0" anchor="t">
            <a:normAutofit/>
          </a:bodyPr>
          <a:lstStyle/>
          <a:p>
            <a:pPr algn="l" indent="0" marL="0">
              <a:lnSpc>
                <a:spcPts val="4140"/>
              </a:lnSpc>
              <a:buNone/>
            </a:pPr>
            <a:r>
              <a:rPr lang="en-US" sz="3600" b="1" i="0" dirty="0">
                <a:solidFill>
                  <a:srgbClr val="F7F6F2"/>
                </a:solidFill>
                <a:latin typeface="IBM Plex Sans" pitchFamily="34" charset="0"/>
                <a:ea typeface="IBM Plex Sans" pitchFamily="34" charset="-122"/>
                <a:cs typeface="IBM Plex Sans" pitchFamily="34" charset="-120"/>
              </a:rPr>
              <a:t>Limits, ethics and next steps</a:t>
            </a:r>
            <a:endParaRPr lang="en-US" sz="3600" dirty="0"/>
          </a:p>
        </p:txBody>
      </p:sp>
      <p:sp>
        <p:nvSpPr>
          <p:cNvPr id="3" name="Shape 1"/>
          <p:cNvSpPr/>
          <p:nvPr/>
        </p:nvSpPr>
        <p:spPr>
          <a:xfrm>
            <a:off x="812800" y="1592579"/>
            <a:ext cx="5181600" cy="2931160"/>
          </a:xfrm>
          <a:prstGeom prst="roundRect">
            <a:avLst>
              <a:gd name="adj" fmla="val 3466"/>
            </a:avLst>
          </a:prstGeom>
          <a:solidFill>
            <a:srgbClr val="1F3157"/>
          </a:solidFill>
          <a:ln/>
        </p:spPr>
      </p:sp>
      <p:sp>
        <p:nvSpPr>
          <p:cNvPr id="4" name="Text 2"/>
          <p:cNvSpPr/>
          <p:nvPr/>
        </p:nvSpPr>
        <p:spPr>
          <a:xfrm>
            <a:off x="1066800" y="1846579"/>
            <a:ext cx="4813808" cy="36068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F2B84B"/>
                </a:solidFill>
                <a:latin typeface="IBM Plex Sans" pitchFamily="34" charset="0"/>
                <a:ea typeface="IBM Plex Sans" pitchFamily="34" charset="-122"/>
                <a:cs typeface="IBM Plex Sans" pitchFamily="34" charset="-120"/>
              </a:rPr>
              <a:t>What not to trust</a:t>
            </a:r>
            <a:endParaRPr lang="en-US" sz="2200" dirty="0"/>
          </a:p>
        </p:txBody>
      </p:sp>
      <p:sp>
        <p:nvSpPr>
          <p:cNvPr id="5" name="Text 3"/>
          <p:cNvSpPr/>
          <p:nvPr/>
        </p:nvSpPr>
        <p:spPr>
          <a:xfrm>
            <a:off x="1066800" y="2308864"/>
            <a:ext cx="4813808" cy="5943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7F6F2"/>
                </a:solidFill>
                <a:latin typeface="IBM Plex Sans" pitchFamily="34" charset="0"/>
                <a:ea typeface="IBM Plex Sans" pitchFamily="34" charset="-122"/>
                <a:cs typeface="IBM Plex Sans" pitchFamily="34" charset="-120"/>
              </a:rPr>
              <a:t>The data is older, largely UK and Singapore texts, so modern scams are thinly covered.</a:t>
            </a:r>
            <a:endParaRPr lang="en-US" sz="1600" dirty="0"/>
          </a:p>
        </p:txBody>
      </p:sp>
      <p:sp>
        <p:nvSpPr>
          <p:cNvPr id="6" name="Text 4"/>
          <p:cNvSpPr/>
          <p:nvPr/>
        </p:nvSpPr>
        <p:spPr>
          <a:xfrm>
            <a:off x="1066800" y="3004821"/>
            <a:ext cx="4813808" cy="5943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7F6F2"/>
                </a:solidFill>
                <a:latin typeface="IBM Plex Sans" pitchFamily="34" charset="0"/>
                <a:ea typeface="IBM Plex Sans" pitchFamily="34" charset="-122"/>
                <a:cs typeface="IBM Plex Sans" pitchFamily="34" charset="-120"/>
              </a:rPr>
              <a:t>A blocked real message can cost someone a medical reminder: keep a human review path.</a:t>
            </a:r>
            <a:endParaRPr lang="en-US" sz="1600" dirty="0"/>
          </a:p>
        </p:txBody>
      </p:sp>
      <p:sp>
        <p:nvSpPr>
          <p:cNvPr id="7" name="Text 5"/>
          <p:cNvSpPr/>
          <p:nvPr/>
        </p:nvSpPr>
        <p:spPr>
          <a:xfrm>
            <a:off x="1066800" y="3700779"/>
            <a:ext cx="4813808" cy="5943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7F6F2"/>
                </a:solidFill>
                <a:latin typeface="IBM Plex Sans" pitchFamily="34" charset="0"/>
                <a:ea typeface="IBM Plex Sans" pitchFamily="34" charset="-122"/>
                <a:cs typeface="IBM Plex Sans" pitchFamily="34" charset="-120"/>
              </a:rPr>
              <a:t>Naive Bayes probabilities are overconfident: never show them to users as certainty.</a:t>
            </a:r>
            <a:endParaRPr lang="en-US" sz="1600" dirty="0"/>
          </a:p>
        </p:txBody>
      </p:sp>
      <p:sp>
        <p:nvSpPr>
          <p:cNvPr id="8" name="Shape 6"/>
          <p:cNvSpPr/>
          <p:nvPr/>
        </p:nvSpPr>
        <p:spPr>
          <a:xfrm>
            <a:off x="6197600" y="1592579"/>
            <a:ext cx="5181600" cy="2931160"/>
          </a:xfrm>
          <a:prstGeom prst="roundRect">
            <a:avLst>
              <a:gd name="adj" fmla="val 3466"/>
            </a:avLst>
          </a:prstGeom>
          <a:solidFill>
            <a:srgbClr val="1F3157"/>
          </a:solidFill>
          <a:ln/>
        </p:spPr>
      </p:sp>
      <p:sp>
        <p:nvSpPr>
          <p:cNvPr id="9" name="Text 7"/>
          <p:cNvSpPr/>
          <p:nvPr/>
        </p:nvSpPr>
        <p:spPr>
          <a:xfrm>
            <a:off x="6451600" y="1846579"/>
            <a:ext cx="4813808" cy="36068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F2B84B"/>
                </a:solidFill>
                <a:latin typeface="IBM Plex Sans" pitchFamily="34" charset="0"/>
                <a:ea typeface="IBM Plex Sans" pitchFamily="34" charset="-122"/>
                <a:cs typeface="IBM Plex Sans" pitchFamily="34" charset="-120"/>
              </a:rPr>
              <a:t>With another week</a:t>
            </a:r>
            <a:endParaRPr lang="en-US" sz="2200" dirty="0"/>
          </a:p>
        </p:txBody>
      </p:sp>
      <p:sp>
        <p:nvSpPr>
          <p:cNvPr id="10" name="Text 8"/>
          <p:cNvSpPr/>
          <p:nvPr/>
        </p:nvSpPr>
        <p:spPr>
          <a:xfrm>
            <a:off x="6451600" y="2308864"/>
            <a:ext cx="4813808" cy="5943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7F6F2"/>
                </a:solidFill>
                <a:latin typeface="IBM Plex Sans" pitchFamily="34" charset="0"/>
                <a:ea typeface="IBM Plex Sans" pitchFamily="34" charset="-122"/>
                <a:cs typeface="IBM Plex Sans" pitchFamily="34" charset="-120"/>
              </a:rPr>
              <a:t>Collect 30 to 50 modern labeled scam messages; we wrote only 7.</a:t>
            </a:r>
            <a:endParaRPr lang="en-US" sz="1600" dirty="0"/>
          </a:p>
        </p:txBody>
      </p:sp>
      <p:sp>
        <p:nvSpPr>
          <p:cNvPr id="11" name="Text 9"/>
          <p:cNvSpPr/>
          <p:nvPr/>
        </p:nvSpPr>
        <p:spPr>
          <a:xfrm>
            <a:off x="6451600" y="3004821"/>
            <a:ext cx="4813808" cy="5943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7F6F2"/>
                </a:solidFill>
                <a:latin typeface="IBM Plex Sans" pitchFamily="34" charset="0"/>
                <a:ea typeface="IBM Plex Sans" pitchFamily="34" charset="-122"/>
                <a:cs typeface="IBM Plex Sans" pitchFamily="34" charset="-120"/>
              </a:rPr>
              <a:t>Calibrate the probabilities and choose the threshold by cross-validation.</a:t>
            </a:r>
            <a:endParaRPr lang="en-US" sz="1600" dirty="0"/>
          </a:p>
        </p:txBody>
      </p:sp>
      <p:sp>
        <p:nvSpPr>
          <p:cNvPr id="12" name="Text 10"/>
          <p:cNvSpPr/>
          <p:nvPr/>
        </p:nvSpPr>
        <p:spPr>
          <a:xfrm>
            <a:off x="6451600" y="3700779"/>
            <a:ext cx="4813808" cy="5943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7F6F2"/>
                </a:solidFill>
                <a:latin typeface="IBM Plex Sans" pitchFamily="34" charset="0"/>
                <a:ea typeface="IBM Plex Sans" pitchFamily="34" charset="-122"/>
                <a:cs typeface="IBM Plex Sans" pitchFamily="34" charset="-120"/>
              </a:rPr>
              <a:t>Add features for phone numbers and £-per-minute patterns, then try DistilBERT.</a:t>
            </a:r>
            <a:endParaRPr lang="en-US" sz="1600" dirty="0"/>
          </a:p>
        </p:txBody>
      </p:sp>
      <p:sp>
        <p:nvSpPr>
          <p:cNvPr id="13" name="Text 11"/>
          <p:cNvSpPr/>
          <p:nvPr/>
        </p:nvSpPr>
        <p:spPr>
          <a:xfrm>
            <a:off x="812800" y="6238242"/>
            <a:ext cx="65405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EB9CF"/>
                </a:solidFill>
                <a:latin typeface="IBM Plex Sans" pitchFamily="34" charset="0"/>
                <a:ea typeface="IBM Plex Sans" pitchFamily="34" charset="-122"/>
                <a:cs typeface="IBM Plex Sans" pitchFamily="34" charset="-120"/>
              </a:rPr>
              <a:t>SpamShield · Team 1 · thank you, questions welcome</a:t>
            </a:r>
            <a:endParaRPr lang="en-US" sz="1200" dirty="0"/>
          </a:p>
        </p:txBody>
      </p:sp>
      <p:sp>
        <p:nvSpPr>
          <p:cNvPr id="14" name="Text 12"/>
          <p:cNvSpPr/>
          <p:nvPr/>
        </p:nvSpPr>
        <p:spPr>
          <a:xfrm>
            <a:off x="10058400" y="6238242"/>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AEB9CF"/>
                </a:solidFill>
                <a:latin typeface="IBM Plex Sans" pitchFamily="34" charset="0"/>
                <a:ea typeface="IBM Plex Sans" pitchFamily="34" charset="-122"/>
                <a:cs typeface="IBM Plex Sans" pitchFamily="34" charset="-120"/>
              </a:rPr>
              <a:t>10 / 10</a:t>
            </a:r>
            <a:endParaRPr lang="en-US" sz="1200" dirty="0"/>
          </a:p>
        </p:txBody>
      </p:sp>
    </p:spTree>
  </p:cSld>
  <p:clrMapOvr>
    <a:masterClrMapping/>
  </p:clrMapOvr>
</p:sld>
</file>

<file path=ppt/theme/theme1.xml><?xml version="1.0" encoding="utf-8"?>
<a:theme xmlns:a="http://schemas.openxmlformats.org/drawingml/2006/main" name="SpamShield Hackathon Deck">
  <a:themeElements>
    <a:clrScheme name="SpamShield Hackathon Deck">
      <a:dk1>
        <a:srgbClr val="14213D"/>
      </a:dk1>
      <a:lt1>
        <a:srgbClr val="F7F6F2"/>
      </a:lt1>
      <a:dk2>
        <a:srgbClr val="4D566A"/>
      </a:dk2>
      <a:lt2>
        <a:srgbClr val="E0E1E0"/>
      </a:lt2>
      <a:accent1>
        <a:srgbClr val="1F5FBF"/>
      </a:accent1>
      <a:accent2>
        <a:srgbClr val="F2B84B"/>
      </a:accent2>
      <a:accent3>
        <a:srgbClr val="1F3157"/>
      </a:accent3>
      <a:accent4>
        <a:srgbClr val="8DB6F2"/>
      </a:accent4>
      <a:accent5>
        <a:srgbClr val="B8481A"/>
      </a:accent5>
      <a:accent6>
        <a:srgbClr val="4A5568"/>
      </a:accent6>
      <a:hlink>
        <a:srgbClr val="0563C1"/>
      </a:hlink>
      <a:folHlink>
        <a:srgbClr val="954F72"/>
      </a:folHlink>
    </a:clrScheme>
    <a:fontScheme name="SpamShield Hackathon Deck">
      <a:majorFont>
        <a:latin typeface="IBM Plex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SpamShield Hackathon Deck</dc:title>
  <dc:subject/>
  <dc:creator/>
  <cp:lastModifiedBy/>
  <cp:revision>1</cp:revision>
  <dcterms:created xsi:type="dcterms:W3CDTF">2026-10-10T14:54:32Z</dcterms:created>
  <dcterms:modified xsi:type="dcterms:W3CDTF">2026-10-10T14:54:32Z</dcterms:modified>
</cp:coreProperties>
</file>